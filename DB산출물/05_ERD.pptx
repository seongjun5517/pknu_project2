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37D24-876F-4C3F-96AE-663C54E96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03BA20-CB8E-4CA3-9FCA-B23D54192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E31F2-27F5-4C9A-9ADF-A081E1D6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D192B-893F-49BE-B18A-F618F17D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CBC27-8B3C-4F81-AF81-56757C91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67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A099F-7C7D-4ADD-A1D0-7AD90B56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9414A-9752-4B2A-BFBE-3BEF5D19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A6A4D-8701-409B-A005-C00C7872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826FAD-07AB-4CF7-A2D0-463AC349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2C09F-15FB-4284-8678-3901CC72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50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169CC-099C-4CFE-B704-4AC9DD34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E4008C-C90D-4D44-8A41-8DB14D141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A34BD-ED42-47BD-A950-79847A7A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7A38D-B0E7-4029-AA70-D7611574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A4C2F-C71D-4AF5-8646-1B3545B8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65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D7517-9FD3-44FA-AA3A-B6BC636B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FF0B1-895C-41FF-A7DF-FC0DB8AD7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DB5D8A-020B-44B8-98A4-E2CC21481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6A3704-BBCA-41EC-8212-40CD607A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BD374-BC8B-47D3-9AFB-A2E93131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11608D-AA8C-410A-87EA-A5DDFD02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00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D3F22-4078-4988-A112-4F25F8FE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D6C53E-4003-4119-BEC6-2F2979C37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A27793-A3E4-42F7-AD34-EEE981395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56A245-EBB3-4B0B-8B7C-2F07809E8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E79E43-428A-4199-A3DF-BF851BD39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8EF1B2-C4D4-421E-BD41-66D84C38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A589EB-22D5-4C5D-8563-B146D0DC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D7425C-D181-4D4E-BD31-F948E179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73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70B72-0ACC-4772-ABB5-23B13D8B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01096F-1F6A-4006-9789-E72822E8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24D9B2-F548-40D4-870F-EC93D3C8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435A13-5BA8-4B44-B248-90D977EB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79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C22A3C-A8F2-4431-8379-F296D7A6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25CB-DD52-40D4-A839-BA3111DF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C1A91-4D29-4CCF-A3BA-8E0253B1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7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8A315-A56D-4D92-A1AD-96F4ED92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68C5-C81B-4001-96AB-3C60B6B6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56E254-6F9C-4E51-B66C-2D8D931B2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22F9F5-DF57-47AA-800C-DF5D18AA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34911E-DD98-431C-9471-7027A822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8C62A-F662-4E71-93EF-A1165CE3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73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FAF5F-6196-4216-9F0D-C20FA973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FEF218-9C0E-4682-AA6E-9E001E890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3B024C-A89F-4B3C-82E8-07AF915C0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37A1D2-2A12-4C99-8A35-B06B73C7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D10852-D495-4D7A-89FE-5B8F5D4E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318DCA-68EB-44BF-8487-BE2FDCF2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24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37F90-C354-4931-A54B-1FAFC629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193D47-886D-47A4-B77A-669739589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1D2A7-919F-4EED-860C-FB817966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93275-2DAC-4CF7-8405-1411DCDE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B5A9B-C24C-4B8E-BB61-4AC0C34A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FCF6A9-F47A-494B-AFDB-DC021E838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F2982E-4852-46D5-9610-769BB52A1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54CB3-3848-49FE-A32A-999703F9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D2F71-BBB9-4AD4-82F3-5C1248B9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B356F-D3EE-42BD-9B5D-AE81600D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18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2326C9-44DD-4688-B046-A13C2B72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3C437F-E8DE-4318-85E2-7E3631DD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3B1DF1-7CF3-408D-A142-125FBC7C6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E36B7-F0BA-4AB3-BD67-20AC5E002CC9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94DDA5-9AB0-40AE-A886-6B9E52BF8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DC8165-CACD-4F92-A1CC-D7339ED19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7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212A03-CF85-4A4F-939A-83A86EB04937}"/>
              </a:ext>
            </a:extLst>
          </p:cNvPr>
          <p:cNvSpPr txBox="1"/>
          <p:nvPr/>
        </p:nvSpPr>
        <p:spPr>
          <a:xfrm>
            <a:off x="160877" y="189665"/>
            <a:ext cx="4301065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lt"/>
              </a:rPr>
              <a:t>ERD </a:t>
            </a:r>
            <a:r>
              <a:rPr lang="ko-KR" altLang="en-US" b="1" dirty="0">
                <a:latin typeface="+mj-lt"/>
              </a:rPr>
              <a:t>설계</a:t>
            </a: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회원 </a:t>
            </a:r>
            <a:r>
              <a:rPr lang="en-US" altLang="ko-KR" b="1" dirty="0">
                <a:latin typeface="+mj-lt"/>
              </a:rPr>
              <a:t>&amp; </a:t>
            </a:r>
            <a:r>
              <a:rPr lang="ko-KR" altLang="en-US" b="1" dirty="0">
                <a:latin typeface="+mj-lt"/>
              </a:rPr>
              <a:t>건강 데이터</a:t>
            </a:r>
            <a:r>
              <a:rPr lang="en-US" altLang="ko-KR" b="1" dirty="0">
                <a:latin typeface="+mj-lt"/>
              </a:rPr>
              <a:t>)</a:t>
            </a:r>
            <a:endParaRPr lang="ko-KR" altLang="en-US" b="1" dirty="0">
              <a:latin typeface="+mj-lt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7C7E4B60-7063-4FA8-AA9A-B837E6C1D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844107"/>
              </p:ext>
            </p:extLst>
          </p:nvPr>
        </p:nvGraphicFramePr>
        <p:xfrm>
          <a:off x="491065" y="880533"/>
          <a:ext cx="4419602" cy="2556936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695646">
                  <a:extLst>
                    <a:ext uri="{9D8B030D-6E8A-4147-A177-3AD203B41FA5}">
                      <a16:colId xmlns:a16="http://schemas.microsoft.com/office/drawing/2014/main" val="1696981840"/>
                    </a:ext>
                  </a:extLst>
                </a:gridCol>
                <a:gridCol w="1287821">
                  <a:extLst>
                    <a:ext uri="{9D8B030D-6E8A-4147-A177-3AD203B41FA5}">
                      <a16:colId xmlns:a16="http://schemas.microsoft.com/office/drawing/2014/main" val="2515604457"/>
                    </a:ext>
                  </a:extLst>
                </a:gridCol>
                <a:gridCol w="1436135">
                  <a:extLst>
                    <a:ext uri="{9D8B030D-6E8A-4147-A177-3AD203B41FA5}">
                      <a16:colId xmlns:a16="http://schemas.microsoft.com/office/drawing/2014/main" val="2768927076"/>
                    </a:ext>
                  </a:extLst>
                </a:gridCol>
              </a:tblGrid>
              <a:tr h="32387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+mj-lt"/>
                        </a:rPr>
                        <a:t>MEMBER</a:t>
                      </a:r>
                      <a:endParaRPr lang="ko-KR" altLang="en-US" sz="1200" b="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863155"/>
                  </a:ext>
                </a:extLst>
              </a:tr>
              <a:tr h="2794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j-lt"/>
                        </a:rPr>
                        <a:t>컬럼명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j-lt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j-lt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577641"/>
                  </a:ext>
                </a:extLst>
              </a:tr>
              <a:tr h="279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MEM_ID(PK)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j-lt"/>
                        </a:rPr>
                        <a:t>회원</a:t>
                      </a:r>
                      <a:r>
                        <a:rPr lang="en-US" altLang="ko-KR" sz="1200" dirty="0">
                          <a:latin typeface="+mj-lt"/>
                        </a:rPr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362222"/>
                  </a:ext>
                </a:extLst>
              </a:tr>
              <a:tr h="279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MEM_PASS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j-lt"/>
                        </a:rPr>
                        <a:t>비밀번호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024640"/>
                  </a:ext>
                </a:extLst>
              </a:tr>
              <a:tr h="279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MEM_NAME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varchar2(20)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j-lt"/>
                        </a:rPr>
                        <a:t>성명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292638"/>
                  </a:ext>
                </a:extLst>
              </a:tr>
              <a:tr h="279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MEM_ADD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varchar2(100)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j-lt"/>
                        </a:rPr>
                        <a:t>주소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88711"/>
                  </a:ext>
                </a:extLst>
              </a:tr>
              <a:tr h="279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MEM_MAIL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varchar2(50)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j-lt"/>
                        </a:rPr>
                        <a:t>이메일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866372"/>
                  </a:ext>
                </a:extLst>
              </a:tr>
              <a:tr h="279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MEM_EDU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varchar(5)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j-lt"/>
                        </a:rPr>
                        <a:t>교육수준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380143"/>
                  </a:ext>
                </a:extLst>
              </a:tr>
              <a:tr h="276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MEM_CREATED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j-lt"/>
                        </a:rPr>
                        <a:t>회원등록일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1699111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4F898F5-6033-4C8F-857D-E3FA469DC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708836"/>
              </p:ext>
            </p:extLst>
          </p:nvPr>
        </p:nvGraphicFramePr>
        <p:xfrm>
          <a:off x="7006183" y="488866"/>
          <a:ext cx="4730748" cy="609600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96481">
                  <a:extLst>
                    <a:ext uri="{9D8B030D-6E8A-4147-A177-3AD203B41FA5}">
                      <a16:colId xmlns:a16="http://schemas.microsoft.com/office/drawing/2014/main" val="3443687360"/>
                    </a:ext>
                  </a:extLst>
                </a:gridCol>
                <a:gridCol w="1464734">
                  <a:extLst>
                    <a:ext uri="{9D8B030D-6E8A-4147-A177-3AD203B41FA5}">
                      <a16:colId xmlns:a16="http://schemas.microsoft.com/office/drawing/2014/main" val="2170985730"/>
                    </a:ext>
                  </a:extLst>
                </a:gridCol>
                <a:gridCol w="1769533">
                  <a:extLst>
                    <a:ext uri="{9D8B030D-6E8A-4147-A177-3AD203B41FA5}">
                      <a16:colId xmlns:a16="http://schemas.microsoft.com/office/drawing/2014/main" val="1969969579"/>
                    </a:ext>
                  </a:extLst>
                </a:gridCol>
              </a:tblGrid>
              <a:tr h="17468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HEALTH</a:t>
                      </a:r>
                      <a:r>
                        <a:rPr lang="ko-KR" altLang="en-US" sz="1000" dirty="0">
                          <a:latin typeface="+mj-lt"/>
                        </a:rPr>
                        <a:t> </a:t>
                      </a:r>
                      <a:r>
                        <a:rPr lang="en-US" altLang="ko-KR" sz="1000" dirty="0">
                          <a:latin typeface="+mj-lt"/>
                        </a:rPr>
                        <a:t>DIAGNOSE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467015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j-lt"/>
                        </a:rPr>
                        <a:t>컬럼명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242454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DIAGNOSIS_ID(PK)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진단 데이터 고유번호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677752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MEM_ID(FK)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회원</a:t>
                      </a:r>
                      <a:r>
                        <a:rPr lang="en-US" altLang="ko-KR" sz="1000" dirty="0">
                          <a:latin typeface="+mj-lt"/>
                        </a:rPr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660445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CHECK_DATE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DATE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검진날짜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19353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DI1_dg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고혈압 진단여부</a:t>
                      </a:r>
                      <a:endParaRPr lang="en-US" altLang="ko-KR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342931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DI2_dg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j-lt"/>
                        </a:rPr>
                        <a:t>이상지질혈증</a:t>
                      </a:r>
                      <a:r>
                        <a:rPr lang="ko-KR" altLang="en-US" sz="1000" dirty="0">
                          <a:latin typeface="+mj-lt"/>
                        </a:rPr>
                        <a:t> 의사진단여부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908341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 DE1_dg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당뇨병 의사진단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066759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DI3_dg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뇌졸중 의사 진단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941136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HE_HP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고혈압 유병여부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6024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+mj-lt"/>
                        </a:rPr>
                        <a:t>HE_glu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NUMBER(5,1)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공복혈당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946907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HE_HbA1c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NUMBER(3,1)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당화혈색소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743177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HE_CHOL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NUMBER(5,1)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총콜레스테롤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5351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HE_TG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NUMBER(6,1)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중성지방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254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HE_BMI 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NUMBER(5,2)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체질량지수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586605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HE_WC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NUMBER(5,1)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복부비만</a:t>
                      </a:r>
                      <a:r>
                        <a:rPr lang="en-US" altLang="ko-KR" sz="1000" dirty="0">
                          <a:latin typeface="+mj-lt"/>
                        </a:rPr>
                        <a:t>/</a:t>
                      </a:r>
                      <a:r>
                        <a:rPr lang="ko-KR" altLang="en-US" sz="1000" dirty="0">
                          <a:latin typeface="+mj-lt"/>
                        </a:rPr>
                        <a:t>허리둘레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502504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BS1_1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NUMBER(2)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평생 일반담배 흡연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890753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BD1_11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NUMBER(2)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1</a:t>
                      </a:r>
                      <a:r>
                        <a:rPr lang="ko-KR" altLang="en-US" sz="1000" dirty="0">
                          <a:latin typeface="+mj-lt"/>
                        </a:rPr>
                        <a:t>년간 음주 빈도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713512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BD2_1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NUMBER(2)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한번에 마시는 음주량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852009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PA_AEROBIC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NUMBER(3)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유산소 신체활동 </a:t>
                      </a:r>
                      <a:r>
                        <a:rPr lang="ko-KR" altLang="en-US" sz="1000" dirty="0" err="1">
                          <a:latin typeface="+mj-lt"/>
                        </a:rPr>
                        <a:t>실천률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314019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 BE8_1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varchar(10)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앉아서 보내는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440457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sex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varchar(10)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성별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964283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age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NUMBER(3)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나이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431713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+mj-lt"/>
                        </a:rPr>
                        <a:t>edu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교육수준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074958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+mj-lt"/>
                        </a:rPr>
                        <a:t>ho_incm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NUMBER(3, 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소득지수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901649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7A9B67D-F1BF-F1C6-8AB0-514B5FF36557}"/>
              </a:ext>
            </a:extLst>
          </p:cNvPr>
          <p:cNvCxnSpPr/>
          <p:nvPr/>
        </p:nvCxnSpPr>
        <p:spPr>
          <a:xfrm>
            <a:off x="491065" y="277200"/>
            <a:ext cx="0" cy="211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9DA52AA-CB3E-406F-88F4-5A07A804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606702"/>
              </p:ext>
            </p:extLst>
          </p:nvPr>
        </p:nvGraphicFramePr>
        <p:xfrm>
          <a:off x="491076" y="4189306"/>
          <a:ext cx="4419600" cy="246888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1824734667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879674917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579298443"/>
                    </a:ext>
                  </a:extLst>
                </a:gridCol>
              </a:tblGrid>
              <a:tr h="16607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COMMUNITY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632163"/>
                  </a:ext>
                </a:extLst>
              </a:tr>
              <a:tr h="166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컬럼명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타입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253748"/>
                  </a:ext>
                </a:extLst>
              </a:tr>
              <a:tr h="166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COM_ID(PK)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NUMBER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게시글 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216227"/>
                  </a:ext>
                </a:extLst>
              </a:tr>
              <a:tr h="166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MEM_ID(FK)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VARCHAR2(15)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작성자 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70759"/>
                  </a:ext>
                </a:extLst>
              </a:tr>
              <a:tr h="166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COM_TITLE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VARCHAR2(200)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게시글 제목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31948"/>
                  </a:ext>
                </a:extLst>
              </a:tr>
              <a:tr h="166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COM_CONTENT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CLOB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게시글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367533"/>
                  </a:ext>
                </a:extLst>
              </a:tr>
              <a:tr h="166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COM_VIEW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NUMBER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조회수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978889"/>
                  </a:ext>
                </a:extLst>
              </a:tr>
              <a:tr h="166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COM_LIKE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NUMBER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좋아요 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66637"/>
                  </a:ext>
                </a:extLst>
              </a:tr>
              <a:tr h="166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COM_CREATED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작성일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589030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07A74ED-DBC4-42C9-9572-9A3F04571BAC}"/>
              </a:ext>
            </a:extLst>
          </p:cNvPr>
          <p:cNvCxnSpPr>
            <a:cxnSpLocks/>
          </p:cNvCxnSpPr>
          <p:nvPr/>
        </p:nvCxnSpPr>
        <p:spPr>
          <a:xfrm>
            <a:off x="2700876" y="3429000"/>
            <a:ext cx="0" cy="70950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AD03153-3389-44F4-911E-7F108D19FA86}"/>
              </a:ext>
            </a:extLst>
          </p:cNvPr>
          <p:cNvCxnSpPr>
            <a:cxnSpLocks/>
          </p:cNvCxnSpPr>
          <p:nvPr/>
        </p:nvCxnSpPr>
        <p:spPr>
          <a:xfrm flipH="1">
            <a:off x="2573877" y="4138504"/>
            <a:ext cx="110055" cy="508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80AA1E5-FCDB-4588-9C76-39C6BCEF3659}"/>
              </a:ext>
            </a:extLst>
          </p:cNvPr>
          <p:cNvCxnSpPr>
            <a:cxnSpLocks/>
          </p:cNvCxnSpPr>
          <p:nvPr/>
        </p:nvCxnSpPr>
        <p:spPr>
          <a:xfrm>
            <a:off x="2692400" y="4121570"/>
            <a:ext cx="127000" cy="677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54288D2-B13F-44CA-9717-626906DD1062}"/>
              </a:ext>
            </a:extLst>
          </p:cNvPr>
          <p:cNvCxnSpPr>
            <a:cxnSpLocks/>
          </p:cNvCxnSpPr>
          <p:nvPr/>
        </p:nvCxnSpPr>
        <p:spPr>
          <a:xfrm>
            <a:off x="4910667" y="2175933"/>
            <a:ext cx="1989666" cy="1744134"/>
          </a:xfrm>
          <a:prstGeom prst="bentConnector3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35F41A6-C58A-40C5-81D7-21A86EE54DA5}"/>
              </a:ext>
            </a:extLst>
          </p:cNvPr>
          <p:cNvCxnSpPr>
            <a:cxnSpLocks/>
          </p:cNvCxnSpPr>
          <p:nvPr/>
        </p:nvCxnSpPr>
        <p:spPr>
          <a:xfrm flipV="1">
            <a:off x="6900333" y="3819450"/>
            <a:ext cx="95257" cy="1006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CDC59-CA76-484A-BDF5-A6902A43DA24}"/>
              </a:ext>
            </a:extLst>
          </p:cNvPr>
          <p:cNvCxnSpPr>
            <a:cxnSpLocks/>
          </p:cNvCxnSpPr>
          <p:nvPr/>
        </p:nvCxnSpPr>
        <p:spPr>
          <a:xfrm>
            <a:off x="6900333" y="3928534"/>
            <a:ext cx="97362" cy="8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B04E8FA-EA8B-49E5-85D1-EFB4E46B2153}"/>
              </a:ext>
            </a:extLst>
          </p:cNvPr>
          <p:cNvSpPr txBox="1"/>
          <p:nvPr/>
        </p:nvSpPr>
        <p:spPr>
          <a:xfrm flipH="1">
            <a:off x="4847177" y="1962078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27DF37-AB8E-4123-890F-F567BCA2B7F8}"/>
              </a:ext>
            </a:extLst>
          </p:cNvPr>
          <p:cNvSpPr txBox="1"/>
          <p:nvPr/>
        </p:nvSpPr>
        <p:spPr>
          <a:xfrm flipH="1">
            <a:off x="6737355" y="3711728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36D7016-C9F3-464D-B51D-781234CC319D}"/>
              </a:ext>
            </a:extLst>
          </p:cNvPr>
          <p:cNvSpPr/>
          <p:nvPr/>
        </p:nvSpPr>
        <p:spPr>
          <a:xfrm>
            <a:off x="4927609" y="2134960"/>
            <a:ext cx="78314" cy="933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B9525ECA-2050-4F48-9C79-3F27E8811109}"/>
              </a:ext>
            </a:extLst>
          </p:cNvPr>
          <p:cNvSpPr/>
          <p:nvPr/>
        </p:nvSpPr>
        <p:spPr>
          <a:xfrm>
            <a:off x="6832612" y="3887563"/>
            <a:ext cx="78314" cy="933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1BB29CA-C66D-4A2A-B48C-26B33C252201}"/>
              </a:ext>
            </a:extLst>
          </p:cNvPr>
          <p:cNvSpPr/>
          <p:nvPr/>
        </p:nvSpPr>
        <p:spPr>
          <a:xfrm>
            <a:off x="2667004" y="3438827"/>
            <a:ext cx="78314" cy="933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7B22E300-D6A0-467C-A2C5-B407873F39B0}"/>
              </a:ext>
            </a:extLst>
          </p:cNvPr>
          <p:cNvSpPr/>
          <p:nvPr/>
        </p:nvSpPr>
        <p:spPr>
          <a:xfrm>
            <a:off x="2658540" y="4065361"/>
            <a:ext cx="78314" cy="933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459688-714E-4F6C-A6B6-93FF0C742210}"/>
              </a:ext>
            </a:extLst>
          </p:cNvPr>
          <p:cNvSpPr txBox="1"/>
          <p:nvPr/>
        </p:nvSpPr>
        <p:spPr>
          <a:xfrm flipH="1">
            <a:off x="2688171" y="3384479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B98808B-19AA-4FE7-96D3-B02E7EE70398}"/>
              </a:ext>
            </a:extLst>
          </p:cNvPr>
          <p:cNvSpPr txBox="1"/>
          <p:nvPr/>
        </p:nvSpPr>
        <p:spPr>
          <a:xfrm flipH="1">
            <a:off x="2671230" y="3979269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369032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56E572-B7DC-4E51-8642-31B810DB6AE1}"/>
              </a:ext>
            </a:extLst>
          </p:cNvPr>
          <p:cNvSpPr txBox="1">
            <a:spLocks/>
          </p:cNvSpPr>
          <p:nvPr/>
        </p:nvSpPr>
        <p:spPr>
          <a:xfrm>
            <a:off x="745079" y="929923"/>
            <a:ext cx="4682054" cy="293003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sz="1200" b="1" dirty="0">
                <a:latin typeface="+mj-lt"/>
              </a:rPr>
              <a:t>설계 설명</a:t>
            </a:r>
            <a:endParaRPr lang="en-US" altLang="ko-KR" sz="1200" b="1" dirty="0">
              <a:latin typeface="+mj-lt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000" dirty="0"/>
              <a:t>HEALTH_DIAGNOSE </a:t>
            </a:r>
            <a:r>
              <a:rPr lang="ko-KR" altLang="en-US" sz="1000" dirty="0"/>
              <a:t>테이블은 회원 별 건강검진 데이터 및 생활습관 정보를 저장합니다</a:t>
            </a:r>
            <a:r>
              <a:rPr lang="en-US" altLang="ko-KR" sz="1000" dirty="0"/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000" dirty="0"/>
              <a:t>회원 한명은 여러 개의 건강검진 데이터를 가질 수 있습니다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(MEMBER ↔ HEALTH_DIAGNOSE : 1 : N </a:t>
            </a:r>
            <a:r>
              <a:rPr lang="ko-KR" altLang="en-US" sz="1000" dirty="0"/>
              <a:t>관계</a:t>
            </a:r>
            <a:r>
              <a:rPr lang="en-US" altLang="ko-KR" sz="1000" dirty="0"/>
              <a:t>)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000" dirty="0"/>
              <a:t>COMMUNITY </a:t>
            </a:r>
            <a:r>
              <a:rPr lang="ko-KR" altLang="en-US" sz="1000" dirty="0"/>
              <a:t>테이블은 회원이 작성한 게시글 정보를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ko-KR" altLang="en-US" sz="1000" dirty="0"/>
              <a:t>회원 한명은 여러 개의 게시글을 작성할 수 있습니다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(MEMBER ↔ COMMUNITY : 1 : N </a:t>
            </a:r>
            <a:r>
              <a:rPr lang="ko-KR" altLang="en-US" sz="1000" dirty="0"/>
              <a:t>관계</a:t>
            </a:r>
            <a:r>
              <a:rPr lang="en-US" altLang="ko-KR" sz="1000" dirty="0"/>
              <a:t>)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000" dirty="0"/>
              <a:t>본 시스템은 건강검진 데이터와 커뮤니티 기능을 통합하여</a:t>
            </a:r>
            <a:br>
              <a:rPr lang="ko-KR" altLang="en-US" sz="1000" dirty="0"/>
            </a:br>
            <a:r>
              <a:rPr lang="ko-KR" altLang="en-US" sz="1000" dirty="0"/>
              <a:t>사용자 간 건강 정보 공유 및 소통 기능을 제공합니다</a:t>
            </a:r>
            <a:r>
              <a:rPr lang="en-US" altLang="ko-KR" sz="1000" dirty="0"/>
              <a:t>.</a:t>
            </a:r>
            <a:endParaRPr lang="en-US" altLang="ko-KR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4464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387</Words>
  <Application>Microsoft Office PowerPoint</Application>
  <PresentationFormat>와이드스크린</PresentationFormat>
  <Paragraphs>133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39</cp:revision>
  <dcterms:created xsi:type="dcterms:W3CDTF">2026-05-13T07:30:45Z</dcterms:created>
  <dcterms:modified xsi:type="dcterms:W3CDTF">2026-05-14T07:37:37Z</dcterms:modified>
</cp:coreProperties>
</file>