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46F890A9-2807-4EBB-B81D-B2AA78EC7F39}" styleName="어두운 스타일 2 - 강조 5/강조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45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F937D24-876F-4C3F-96AE-663C54E96C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2503BA20-CB8E-4CA3-9FCA-B23D541924A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01E31F2-27F5-4C9A-9ADF-A081E1D679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E36B7-F0BA-4AB3-BD67-20AC5E002CC9}" type="datetimeFigureOut">
              <a:rPr lang="ko-KR" altLang="en-US" smtClean="0"/>
              <a:t>2026-05-19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86D192B-893F-49BE-B18A-F618F17DA3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ADCBC27-8B3C-4F81-AF81-56757C916C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970929-93F6-43A7-9E0A-164FBED1A2F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556763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32A099F-7C7D-4ADD-A1D0-7AD90B5687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BB9414A-9752-4B2A-BFBE-3BEF5D199E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BDA6A4D-8701-409B-A005-C00C787242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E36B7-F0BA-4AB3-BD67-20AC5E002CC9}" type="datetimeFigureOut">
              <a:rPr lang="ko-KR" altLang="en-US" smtClean="0"/>
              <a:t>2026-05-19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4826FAD-07AB-4CF7-A2D0-463AC34997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162C09F-15FB-4284-8678-3901CC72B2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970929-93F6-43A7-9E0A-164FBED1A2F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3950482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FB169CC-099C-4CFE-B704-4AC9DD342A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5E4008C-C90D-4D44-8A41-8DB14D1413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C2A34BD-ED42-47BD-A950-79847A7A9C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E36B7-F0BA-4AB3-BD67-20AC5E002CC9}" type="datetimeFigureOut">
              <a:rPr lang="ko-KR" altLang="en-US" smtClean="0"/>
              <a:t>2026-05-19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567A38D-B0E7-4029-AA70-D7611574D8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04A4C2F-C71D-4AF5-8646-1B3545B84F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970929-93F6-43A7-9E0A-164FBED1A2F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836596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1AD7517-9FD3-44FA-AA3A-B6BC636B5E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F8FF0B1-895C-41FF-A7DF-FC0DB8AD7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77DB5D8A-020B-44B8-98A4-E2CC21481EC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46A3704-BBCA-41EC-8212-40CD607A6D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E36B7-F0BA-4AB3-BD67-20AC5E002CC9}" type="datetimeFigureOut">
              <a:rPr lang="ko-KR" altLang="en-US" smtClean="0"/>
              <a:t>2026-05-19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06BD374-BC8B-47D3-9AFB-A2E931311F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811608D-AA8C-410A-87EA-A5DDFD02C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970929-93F6-43A7-9E0A-164FBED1A2F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870029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7ED3F22-4078-4988-A112-4F25F8FEFA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BD6C53E-4003-4119-BEC6-2F2979C3747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2A27793-A3E4-42F7-AD34-EEE981395C9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3E56A245-EBB3-4B0B-8B7C-2F07809E89D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DE79E43-428A-4199-A3DF-BF851BD39C1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3B8EF1B2-C4D4-421E-BD41-66D84C38FA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E36B7-F0BA-4AB3-BD67-20AC5E002CC9}" type="datetimeFigureOut">
              <a:rPr lang="ko-KR" altLang="en-US" smtClean="0"/>
              <a:t>2026-05-19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31A589EB-22D5-4C5D-8563-B146D0DCCA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D6D7425C-D181-4D4E-BD31-F948E17992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970929-93F6-43A7-9E0A-164FBED1A2F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807320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9C70B72-0ACC-4772-ABB5-23B13D8B4C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B701096F-1F6A-4006-9789-E72822E83D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E36B7-F0BA-4AB3-BD67-20AC5E002CC9}" type="datetimeFigureOut">
              <a:rPr lang="ko-KR" altLang="en-US" smtClean="0"/>
              <a:t>2026-05-19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6824D9B2-F548-40D4-870F-EC93D3C8A4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D6435A13-5BA8-4B44-B248-90D977EBA4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970929-93F6-43A7-9E0A-164FBED1A2F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707977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F0C22A3C-A8F2-4431-8379-F296D7A6D6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E36B7-F0BA-4AB3-BD67-20AC5E002CC9}" type="datetimeFigureOut">
              <a:rPr lang="ko-KR" altLang="en-US" smtClean="0"/>
              <a:t>2026-05-19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96D925CB-DD52-40D4-A839-BA3111DFA9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5DC1A91-4D29-4CCF-A3BA-8E0253B17D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970929-93F6-43A7-9E0A-164FBED1A2F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82732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8E8A315-A56D-4D92-A1AD-96F4ED9237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2BB68C5-C81B-4001-96AB-3C60B6B644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C56E254-6F9C-4E51-B66C-2D8D931B2D7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522F9F5-DF57-47AA-800C-DF5D18AA61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E36B7-F0BA-4AB3-BD67-20AC5E002CC9}" type="datetimeFigureOut">
              <a:rPr lang="ko-KR" altLang="en-US" smtClean="0"/>
              <a:t>2026-05-19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834911E-DD98-431C-9471-7027A82245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AE8C62A-F662-4E71-93EF-A1165CE365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970929-93F6-43A7-9E0A-164FBED1A2F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067316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98FAF5F-6196-4216-9F0D-C20FA97336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25FEF218-9C0E-4682-AA6E-9E001E890CA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83B024C-A89F-4B3C-82E8-07AF915C03F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237A1D2-2A12-4C99-8A35-B06B73C7ED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E36B7-F0BA-4AB3-BD67-20AC5E002CC9}" type="datetimeFigureOut">
              <a:rPr lang="ko-KR" altLang="en-US" smtClean="0"/>
              <a:t>2026-05-19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9D10852-D495-4D7A-89FE-5B8F5D4E87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D318DCA-68EB-44BF-8487-BE2FDCF2A9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970929-93F6-43A7-9E0A-164FBED1A2F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892463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6737F90-C354-4931-A54B-1FAFC629F2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2B193D47-886D-47A4-B77A-669739589FA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DA1D2A7-919F-4EED-860C-FB817966C8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E36B7-F0BA-4AB3-BD67-20AC5E002CC9}" type="datetimeFigureOut">
              <a:rPr lang="ko-KR" altLang="en-US" smtClean="0"/>
              <a:t>2026-05-19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0B93275-2DAC-4CF7-8405-1411DCDEDC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5AB5A9B-C24C-4B8E-BB61-4AC0C34A89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970929-93F6-43A7-9E0A-164FBED1A2F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914360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2BFCF6A9-F47A-494B-AFDB-DC021E83847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8F2982E-4852-46D5-9610-769BB52A1D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8754CB3-3848-49FE-A32A-999703F91E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E36B7-F0BA-4AB3-BD67-20AC5E002CC9}" type="datetimeFigureOut">
              <a:rPr lang="ko-KR" altLang="en-US" smtClean="0"/>
              <a:t>2026-05-19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3AD2F71-BBB9-4AD4-82F3-5C1248B9CD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C6B356F-D3EE-42BD-9B5D-AE81600DDC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970929-93F6-43A7-9E0A-164FBED1A2F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3618855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182326C9-44DD-4688-B046-A13C2B72D9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03C437F-E8DE-4318-85E2-7E3631DDF1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33B1DF1-7CF3-408D-A142-125FBC7C6B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6EE36B7-F0BA-4AB3-BD67-20AC5E002CC9}" type="datetimeFigureOut">
              <a:rPr lang="ko-KR" altLang="en-US" smtClean="0"/>
              <a:t>2026-05-19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294DDA5-9AB0-40AE-A886-6B9E52BF86C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EDC8165-CACD-4F92-A1CC-D7339ED19D6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C970929-93F6-43A7-9E0A-164FBED1A2F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701724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B212A03-CF85-4A4F-939A-83A86EB04937}"/>
              </a:ext>
            </a:extLst>
          </p:cNvPr>
          <p:cNvSpPr txBox="1"/>
          <p:nvPr/>
        </p:nvSpPr>
        <p:spPr>
          <a:xfrm>
            <a:off x="425448" y="92534"/>
            <a:ext cx="4036494" cy="36933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altLang="ko-KR" b="1" dirty="0">
                <a:latin typeface="+mj-lt"/>
              </a:rPr>
              <a:t>ERD </a:t>
            </a:r>
            <a:r>
              <a:rPr lang="ko-KR" altLang="en-US" b="1" dirty="0">
                <a:latin typeface="+mj-lt"/>
              </a:rPr>
              <a:t>설계</a:t>
            </a:r>
            <a:r>
              <a:rPr lang="en-US" altLang="ko-KR" b="1" dirty="0">
                <a:latin typeface="+mj-lt"/>
              </a:rPr>
              <a:t>(</a:t>
            </a:r>
            <a:r>
              <a:rPr lang="ko-KR" altLang="en-US" b="1" dirty="0">
                <a:latin typeface="+mj-lt"/>
              </a:rPr>
              <a:t>회원 </a:t>
            </a:r>
            <a:r>
              <a:rPr lang="en-US" altLang="ko-KR" b="1" dirty="0">
                <a:latin typeface="+mj-lt"/>
              </a:rPr>
              <a:t>&amp; </a:t>
            </a:r>
            <a:r>
              <a:rPr lang="ko-KR" altLang="en-US" b="1" dirty="0">
                <a:latin typeface="+mj-lt"/>
              </a:rPr>
              <a:t>건강 데이터</a:t>
            </a:r>
            <a:r>
              <a:rPr lang="en-US" altLang="ko-KR" b="1" dirty="0">
                <a:latin typeface="+mj-lt"/>
              </a:rPr>
              <a:t>)</a:t>
            </a:r>
            <a:endParaRPr lang="ko-KR" altLang="en-US" b="1" dirty="0">
              <a:latin typeface="+mj-lt"/>
            </a:endParaRPr>
          </a:p>
        </p:txBody>
      </p:sp>
      <p:graphicFrame>
        <p:nvGraphicFramePr>
          <p:cNvPr id="59" name="표 58">
            <a:extLst>
              <a:ext uri="{FF2B5EF4-FFF2-40B4-BE49-F238E27FC236}">
                <a16:creationId xmlns:a16="http://schemas.microsoft.com/office/drawing/2014/main" id="{7C7E4B60-7063-4FA8-AA9A-B837E6C1DCF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79024325"/>
              </p:ext>
            </p:extLst>
          </p:nvPr>
        </p:nvGraphicFramePr>
        <p:xfrm>
          <a:off x="491064" y="553399"/>
          <a:ext cx="4419602" cy="1133852"/>
        </p:xfrm>
        <a:graphic>
          <a:graphicData uri="http://schemas.openxmlformats.org/drawingml/2006/table">
            <a:tbl>
              <a:tblPr firstRow="1" bandRow="1">
                <a:tableStyleId>{46F890A9-2807-4EBB-B81D-B2AA78EC7F39}</a:tableStyleId>
              </a:tblPr>
              <a:tblGrid>
                <a:gridCol w="1828802">
                  <a:extLst>
                    <a:ext uri="{9D8B030D-6E8A-4147-A177-3AD203B41FA5}">
                      <a16:colId xmlns:a16="http://schemas.microsoft.com/office/drawing/2014/main" val="1696981840"/>
                    </a:ext>
                  </a:extLst>
                </a:gridCol>
                <a:gridCol w="1154665">
                  <a:extLst>
                    <a:ext uri="{9D8B030D-6E8A-4147-A177-3AD203B41FA5}">
                      <a16:colId xmlns:a16="http://schemas.microsoft.com/office/drawing/2014/main" val="2515604457"/>
                    </a:ext>
                  </a:extLst>
                </a:gridCol>
                <a:gridCol w="1436135">
                  <a:extLst>
                    <a:ext uri="{9D8B030D-6E8A-4147-A177-3AD203B41FA5}">
                      <a16:colId xmlns:a16="http://schemas.microsoft.com/office/drawing/2014/main" val="2768927076"/>
                    </a:ext>
                  </a:extLst>
                </a:gridCol>
              </a:tblGrid>
              <a:tr h="254720"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1" dirty="0">
                          <a:latin typeface="+mj-lt"/>
                        </a:rPr>
                        <a:t>MEMBER</a:t>
                      </a:r>
                      <a:endParaRPr lang="ko-KR" altLang="en-US" sz="1000" b="1" dirty="0">
                        <a:latin typeface="+mj-lt"/>
                      </a:endParaRP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4863155"/>
                  </a:ext>
                </a:extLst>
              </a:tr>
              <a:tr h="21978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 err="1">
                          <a:latin typeface="+mj-lt"/>
                        </a:rPr>
                        <a:t>컬럼명</a:t>
                      </a:r>
                      <a:endParaRPr lang="ko-KR" altLang="en-US" sz="8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latin typeface="+mj-lt"/>
                        </a:rPr>
                        <a:t>타입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latin typeface="+mj-lt"/>
                        </a:rPr>
                        <a:t>설명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74577641"/>
                  </a:ext>
                </a:extLst>
              </a:tr>
              <a:tr h="21978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j-lt"/>
                        </a:rPr>
                        <a:t>MEM_ID(PK)</a:t>
                      </a:r>
                      <a:endParaRPr lang="ko-KR" altLang="en-US" sz="8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j-lt"/>
                        </a:rPr>
                        <a:t>varchar2(50)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j-lt"/>
                        </a:rPr>
                        <a:t>회원</a:t>
                      </a:r>
                      <a:r>
                        <a:rPr lang="en-US" altLang="ko-KR" sz="800" dirty="0">
                          <a:latin typeface="+mj-lt"/>
                        </a:rPr>
                        <a:t>ID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4362222"/>
                  </a:ext>
                </a:extLst>
              </a:tr>
              <a:tr h="21978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j-lt"/>
                        </a:rPr>
                        <a:t>MEM_PHONE</a:t>
                      </a:r>
                      <a:endParaRPr lang="ko-KR" altLang="en-US" sz="8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j-lt"/>
                        </a:rPr>
                        <a:t>varchar2(15)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j-lt"/>
                        </a:rPr>
                        <a:t>전화번호</a:t>
                      </a:r>
                      <a:endParaRPr lang="en-US" altLang="ko-KR" sz="800" dirty="0">
                        <a:latin typeface="+mj-l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79024640"/>
                  </a:ext>
                </a:extLst>
              </a:tr>
              <a:tr h="21978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j-lt"/>
                        </a:rPr>
                        <a:t>MEM_NAME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j-lt"/>
                        </a:rPr>
                        <a:t>varchar2(20)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j-lt"/>
                        </a:rPr>
                        <a:t>성명</a:t>
                      </a:r>
                      <a:endParaRPr lang="en-US" altLang="ko-KR" sz="800" dirty="0">
                        <a:latin typeface="+mj-l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03292638"/>
                  </a:ext>
                </a:extLst>
              </a:tr>
            </a:tbl>
          </a:graphicData>
        </a:graphic>
      </p:graphicFrame>
      <p:graphicFrame>
        <p:nvGraphicFramePr>
          <p:cNvPr id="61" name="표 60">
            <a:extLst>
              <a:ext uri="{FF2B5EF4-FFF2-40B4-BE49-F238E27FC236}">
                <a16:creationId xmlns:a16="http://schemas.microsoft.com/office/drawing/2014/main" id="{34F898F5-6033-4C8F-857D-E3FA469DCEB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8364415"/>
              </p:ext>
            </p:extLst>
          </p:nvPr>
        </p:nvGraphicFramePr>
        <p:xfrm>
          <a:off x="7035804" y="277200"/>
          <a:ext cx="4730748" cy="6339840"/>
        </p:xfrm>
        <a:graphic>
          <a:graphicData uri="http://schemas.openxmlformats.org/drawingml/2006/table">
            <a:tbl>
              <a:tblPr firstRow="1" bandRow="1">
                <a:tableStyleId>{46F890A9-2807-4EBB-B81D-B2AA78EC7F39}</a:tableStyleId>
              </a:tblPr>
              <a:tblGrid>
                <a:gridCol w="1496481">
                  <a:extLst>
                    <a:ext uri="{9D8B030D-6E8A-4147-A177-3AD203B41FA5}">
                      <a16:colId xmlns:a16="http://schemas.microsoft.com/office/drawing/2014/main" val="3443687360"/>
                    </a:ext>
                  </a:extLst>
                </a:gridCol>
                <a:gridCol w="1464734">
                  <a:extLst>
                    <a:ext uri="{9D8B030D-6E8A-4147-A177-3AD203B41FA5}">
                      <a16:colId xmlns:a16="http://schemas.microsoft.com/office/drawing/2014/main" val="2170985730"/>
                    </a:ext>
                  </a:extLst>
                </a:gridCol>
                <a:gridCol w="1769533">
                  <a:extLst>
                    <a:ext uri="{9D8B030D-6E8A-4147-A177-3AD203B41FA5}">
                      <a16:colId xmlns:a16="http://schemas.microsoft.com/office/drawing/2014/main" val="1969969579"/>
                    </a:ext>
                  </a:extLst>
                </a:gridCol>
              </a:tblGrid>
              <a:tr h="174682"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latin typeface="+mj-lt"/>
                        </a:rPr>
                        <a:t>DATA</a:t>
                      </a:r>
                      <a:endParaRPr lang="ko-KR" altLang="en-US" sz="1000" dirty="0">
                        <a:latin typeface="+mj-lt"/>
                      </a:endParaRP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400" dirty="0">
                        <a:latin typeface="+mj-lt"/>
                      </a:endParaRP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400" dirty="0">
                        <a:latin typeface="+mj-l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58467015"/>
                  </a:ext>
                </a:extLst>
              </a:tr>
              <a:tr h="17468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 err="1">
                          <a:latin typeface="+mj-lt"/>
                        </a:rPr>
                        <a:t>컬럼명</a:t>
                      </a:r>
                      <a:endParaRPr lang="ko-KR" altLang="en-US" sz="10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latin typeface="+mj-lt"/>
                        </a:rPr>
                        <a:t>타입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latin typeface="+mj-lt"/>
                        </a:rPr>
                        <a:t>설명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48242454"/>
                  </a:ext>
                </a:extLst>
              </a:tr>
              <a:tr h="17468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latin typeface="+mj-lt"/>
                        </a:rPr>
                        <a:t>DATA_ID(PK)</a:t>
                      </a:r>
                      <a:endParaRPr lang="ko-KR" altLang="en-US" sz="10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latin typeface="+mj-lt"/>
                        </a:rPr>
                        <a:t>NUMBER</a:t>
                      </a:r>
                      <a:endParaRPr lang="ko-KR" altLang="en-US" sz="10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latin typeface="+mj-lt"/>
                        </a:rPr>
                        <a:t>진단 데이터 고유번호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60677752"/>
                  </a:ext>
                </a:extLst>
              </a:tr>
              <a:tr h="17468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>
                          <a:latin typeface="+mj-lt"/>
                        </a:rPr>
                        <a:t>MEM_ID(FK)</a:t>
                      </a:r>
                      <a:endParaRPr lang="ko-KR" altLang="en-US" sz="10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kern="1200" dirty="0">
                          <a:solidFill>
                            <a:schemeClr val="dk1"/>
                          </a:solidFill>
                          <a:latin typeface="+mj-lt"/>
                          <a:ea typeface="+mn-ea"/>
                          <a:cs typeface="+mn-cs"/>
                        </a:rPr>
                        <a:t>varchar2(15)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latin typeface="+mj-lt"/>
                        </a:rPr>
                        <a:t>회원</a:t>
                      </a:r>
                      <a:r>
                        <a:rPr lang="en-US" altLang="ko-KR" sz="1000" dirty="0">
                          <a:latin typeface="+mj-lt"/>
                        </a:rPr>
                        <a:t>ID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96660445"/>
                  </a:ext>
                </a:extLst>
              </a:tr>
              <a:tr h="17468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latin typeface="+mj-lt"/>
                        </a:rPr>
                        <a:t>CHECK_DATE</a:t>
                      </a:r>
                      <a:endParaRPr lang="ko-KR" altLang="en-US" sz="10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latin typeface="+mj-lt"/>
                        </a:rPr>
                        <a:t>DATE</a:t>
                      </a:r>
                      <a:endParaRPr lang="ko-KR" altLang="en-US" sz="10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latin typeface="+mj-lt"/>
                        </a:rPr>
                        <a:t>검진날짜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88119353"/>
                  </a:ext>
                </a:extLst>
              </a:tr>
              <a:tr h="17468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latin typeface="+mj-lt"/>
                        </a:rPr>
                        <a:t>DI1_dg</a:t>
                      </a:r>
                      <a:endParaRPr lang="ko-KR" altLang="en-US" sz="10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latin typeface="+mj-lt"/>
                        </a:rPr>
                        <a:t>NUMBER</a:t>
                      </a:r>
                      <a:endParaRPr lang="ko-KR" altLang="en-US" sz="10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latin typeface="+mj-lt"/>
                        </a:rPr>
                        <a:t>고혈압 진단여부</a:t>
                      </a:r>
                      <a:endParaRPr lang="en-US" altLang="ko-KR" sz="1000" dirty="0">
                        <a:latin typeface="+mj-l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42342931"/>
                  </a:ext>
                </a:extLst>
              </a:tr>
              <a:tr h="17468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latin typeface="+mj-lt"/>
                        </a:rPr>
                        <a:t>DI2_dg</a:t>
                      </a:r>
                      <a:endParaRPr lang="ko-KR" altLang="en-US" sz="10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kern="1200" dirty="0">
                          <a:solidFill>
                            <a:schemeClr val="dk1"/>
                          </a:solidFill>
                          <a:latin typeface="+mj-lt"/>
                          <a:ea typeface="+mn-ea"/>
                          <a:cs typeface="+mn-cs"/>
                        </a:rPr>
                        <a:t>NUMBER</a:t>
                      </a:r>
                      <a:endParaRPr lang="ko-KR" altLang="en-US" sz="1000" kern="1200" dirty="0">
                        <a:solidFill>
                          <a:schemeClr val="dk1"/>
                        </a:solidFill>
                        <a:latin typeface="+mj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 err="1">
                          <a:latin typeface="+mj-lt"/>
                        </a:rPr>
                        <a:t>이상지질혈증</a:t>
                      </a:r>
                      <a:r>
                        <a:rPr lang="ko-KR" altLang="en-US" sz="1000" dirty="0">
                          <a:latin typeface="+mj-lt"/>
                        </a:rPr>
                        <a:t> 의사진단여부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17908341"/>
                  </a:ext>
                </a:extLst>
              </a:tr>
              <a:tr h="17468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latin typeface="+mj-lt"/>
                        </a:rPr>
                        <a:t> DE1_dg</a:t>
                      </a:r>
                      <a:endParaRPr lang="ko-KR" altLang="en-US" sz="10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kern="1200" dirty="0">
                          <a:solidFill>
                            <a:schemeClr val="dk1"/>
                          </a:solidFill>
                          <a:latin typeface="+mj-lt"/>
                          <a:ea typeface="+mn-ea"/>
                          <a:cs typeface="+mn-cs"/>
                        </a:rPr>
                        <a:t>NUMBER</a:t>
                      </a:r>
                      <a:endParaRPr lang="ko-KR" altLang="en-US" sz="1000" kern="1200" dirty="0">
                        <a:solidFill>
                          <a:schemeClr val="dk1"/>
                        </a:solidFill>
                        <a:latin typeface="+mj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latin typeface="+mj-lt"/>
                        </a:rPr>
                        <a:t>당뇨병 의사진단 여부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88066759"/>
                  </a:ext>
                </a:extLst>
              </a:tr>
              <a:tr h="17468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latin typeface="+mj-lt"/>
                        </a:rPr>
                        <a:t>DI3_dg</a:t>
                      </a:r>
                      <a:endParaRPr lang="ko-KR" altLang="en-US" sz="10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kern="1200" dirty="0">
                          <a:solidFill>
                            <a:schemeClr val="dk1"/>
                          </a:solidFill>
                          <a:latin typeface="+mj-lt"/>
                          <a:ea typeface="+mn-ea"/>
                          <a:cs typeface="+mn-cs"/>
                        </a:rPr>
                        <a:t>NUMBER</a:t>
                      </a:r>
                      <a:endParaRPr lang="ko-KR" altLang="en-US" sz="1000" kern="1200" dirty="0">
                        <a:solidFill>
                          <a:schemeClr val="dk1"/>
                        </a:solidFill>
                        <a:latin typeface="+mj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kern="1200" dirty="0">
                          <a:solidFill>
                            <a:schemeClr val="dk1"/>
                          </a:solidFill>
                          <a:latin typeface="+mj-lt"/>
                          <a:ea typeface="+mn-ea"/>
                          <a:cs typeface="+mn-cs"/>
                        </a:rPr>
                        <a:t>뇌졸중 의사 진단 여부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58941136"/>
                  </a:ext>
                </a:extLst>
              </a:tr>
              <a:tr h="17468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latin typeface="+mj-lt"/>
                        </a:rPr>
                        <a:t>HE_HP</a:t>
                      </a:r>
                      <a:endParaRPr lang="ko-KR" altLang="en-US" sz="10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kern="1200" dirty="0">
                          <a:solidFill>
                            <a:schemeClr val="dk1"/>
                          </a:solidFill>
                          <a:latin typeface="+mj-lt"/>
                          <a:ea typeface="+mn-ea"/>
                          <a:cs typeface="+mn-cs"/>
                        </a:rPr>
                        <a:t>NUMBER</a:t>
                      </a:r>
                      <a:endParaRPr lang="ko-KR" altLang="en-US" sz="1000" kern="1200" dirty="0">
                        <a:solidFill>
                          <a:schemeClr val="dk1"/>
                        </a:solidFill>
                        <a:latin typeface="+mj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latin typeface="+mj-lt"/>
                        </a:rPr>
                        <a:t>고혈압 유병여부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7576024"/>
                  </a:ext>
                </a:extLst>
              </a:tr>
              <a:tr h="17468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 err="1">
                          <a:latin typeface="+mj-lt"/>
                        </a:rPr>
                        <a:t>HE_glu</a:t>
                      </a:r>
                      <a:endParaRPr lang="ko-KR" altLang="en-US" sz="10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>
                          <a:latin typeface="+mj-lt"/>
                        </a:rPr>
                        <a:t>NUMBER(5,1)</a:t>
                      </a:r>
                      <a:endParaRPr lang="ko-KR" altLang="en-US" sz="1000" kern="1200" dirty="0">
                        <a:solidFill>
                          <a:schemeClr val="dk1"/>
                        </a:solidFill>
                        <a:latin typeface="+mj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latin typeface="+mj-lt"/>
                        </a:rPr>
                        <a:t>공복혈당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73946907"/>
                  </a:ext>
                </a:extLst>
              </a:tr>
              <a:tr h="17468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>
                          <a:latin typeface="+mj-lt"/>
                        </a:rPr>
                        <a:t>HE_HbA1c</a:t>
                      </a:r>
                      <a:endParaRPr lang="ko-KR" altLang="en-US" sz="10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>
                          <a:latin typeface="+mj-lt"/>
                        </a:rPr>
                        <a:t>NUMBER(3,1)</a:t>
                      </a:r>
                      <a:endParaRPr lang="ko-KR" altLang="en-US" sz="1000" kern="1200" dirty="0">
                        <a:solidFill>
                          <a:schemeClr val="dk1"/>
                        </a:solidFill>
                        <a:latin typeface="+mj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j-lt"/>
                        </a:rPr>
                        <a:t>당화혈색소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83743177"/>
                  </a:ext>
                </a:extLst>
              </a:tr>
              <a:tr h="17468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latin typeface="+mj-lt"/>
                        </a:rPr>
                        <a:t>HE_CHOL</a:t>
                      </a:r>
                      <a:endParaRPr lang="ko-KR" altLang="en-US" sz="10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>
                          <a:latin typeface="+mj-lt"/>
                        </a:rPr>
                        <a:t>NUMBER(5,1)</a:t>
                      </a:r>
                      <a:endParaRPr lang="ko-KR" altLang="en-US" sz="1000" kern="1200" dirty="0">
                        <a:solidFill>
                          <a:schemeClr val="dk1"/>
                        </a:solidFill>
                        <a:latin typeface="+mj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latin typeface="+mj-lt"/>
                        </a:rPr>
                        <a:t>총콜레스테롤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0885351"/>
                  </a:ext>
                </a:extLst>
              </a:tr>
              <a:tr h="17468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latin typeface="+mj-lt"/>
                        </a:rPr>
                        <a:t>HE_TG</a:t>
                      </a:r>
                      <a:endParaRPr lang="ko-KR" altLang="en-US" sz="10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latin typeface="+mj-lt"/>
                        </a:rPr>
                        <a:t>NUMBER(6,1)</a:t>
                      </a:r>
                      <a:endParaRPr lang="ko-KR" altLang="en-US" sz="10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latin typeface="+mj-lt"/>
                        </a:rPr>
                        <a:t>중성지방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277254"/>
                  </a:ext>
                </a:extLst>
              </a:tr>
              <a:tr h="17468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latin typeface="+mj-lt"/>
                        </a:rPr>
                        <a:t>HE_BMI </a:t>
                      </a:r>
                      <a:endParaRPr lang="ko-KR" altLang="en-US" sz="10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>
                          <a:latin typeface="+mj-lt"/>
                        </a:rPr>
                        <a:t>NUMBER(5,2)</a:t>
                      </a:r>
                      <a:endParaRPr lang="ko-KR" altLang="en-US" sz="1000" kern="1200" dirty="0">
                        <a:solidFill>
                          <a:schemeClr val="dk1"/>
                        </a:solidFill>
                        <a:latin typeface="+mj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kern="1200" dirty="0">
                          <a:solidFill>
                            <a:schemeClr val="dk1"/>
                          </a:solidFill>
                          <a:latin typeface="+mj-lt"/>
                          <a:ea typeface="+mn-ea"/>
                          <a:cs typeface="+mn-cs"/>
                        </a:rPr>
                        <a:t>체질량지수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31586605"/>
                  </a:ext>
                </a:extLst>
              </a:tr>
              <a:tr h="17468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latin typeface="+mj-lt"/>
                        </a:rPr>
                        <a:t>HE_WC</a:t>
                      </a:r>
                      <a:endParaRPr lang="ko-KR" altLang="en-US" sz="10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latin typeface="+mj-lt"/>
                        </a:rPr>
                        <a:t>NUMBER(5,1)</a:t>
                      </a:r>
                      <a:endParaRPr lang="ko-KR" altLang="en-US" sz="10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latin typeface="+mj-lt"/>
                        </a:rPr>
                        <a:t>복부비만</a:t>
                      </a:r>
                      <a:r>
                        <a:rPr lang="en-US" altLang="ko-KR" sz="1000" dirty="0">
                          <a:latin typeface="+mj-lt"/>
                        </a:rPr>
                        <a:t>/</a:t>
                      </a:r>
                      <a:r>
                        <a:rPr lang="ko-KR" altLang="en-US" sz="1000" dirty="0">
                          <a:latin typeface="+mj-lt"/>
                        </a:rPr>
                        <a:t>허리둘레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32502504"/>
                  </a:ext>
                </a:extLst>
              </a:tr>
              <a:tr h="17468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latin typeface="+mj-lt"/>
                        </a:rPr>
                        <a:t>BS1_1</a:t>
                      </a:r>
                      <a:endParaRPr lang="ko-KR" altLang="en-US" sz="10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>
                          <a:latin typeface="+mj-lt"/>
                        </a:rPr>
                        <a:t>NUMBER(2)</a:t>
                      </a:r>
                      <a:endParaRPr lang="ko-KR" altLang="en-US" sz="1000" kern="1200" dirty="0">
                        <a:solidFill>
                          <a:schemeClr val="dk1"/>
                        </a:solidFill>
                        <a:latin typeface="+mj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j-lt"/>
                        </a:rPr>
                        <a:t>평생 일반담배 흡연 여부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51890753"/>
                  </a:ext>
                </a:extLst>
              </a:tr>
              <a:tr h="17468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latin typeface="+mj-lt"/>
                        </a:rPr>
                        <a:t>BD1_11</a:t>
                      </a:r>
                      <a:endParaRPr lang="ko-KR" altLang="en-US" sz="10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>
                          <a:latin typeface="+mj-lt"/>
                        </a:rPr>
                        <a:t>NUMBER(2)</a:t>
                      </a:r>
                      <a:endParaRPr lang="ko-KR" altLang="en-US" sz="1000" kern="1200" dirty="0">
                        <a:solidFill>
                          <a:schemeClr val="dk1"/>
                        </a:solidFill>
                        <a:latin typeface="+mj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>
                          <a:latin typeface="+mj-lt"/>
                        </a:rPr>
                        <a:t>1</a:t>
                      </a:r>
                      <a:r>
                        <a:rPr lang="ko-KR" altLang="en-US" sz="1000" dirty="0">
                          <a:latin typeface="+mj-lt"/>
                        </a:rPr>
                        <a:t>년간 음주 빈도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18713512"/>
                  </a:ext>
                </a:extLst>
              </a:tr>
              <a:tr h="17468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latin typeface="+mj-lt"/>
                        </a:rPr>
                        <a:t>BD2_1</a:t>
                      </a:r>
                      <a:endParaRPr lang="ko-KR" altLang="en-US" sz="10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latin typeface="+mj-lt"/>
                        </a:rPr>
                        <a:t>NUMBER(2)</a:t>
                      </a:r>
                      <a:endParaRPr lang="ko-KR" altLang="en-US" sz="10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j-lt"/>
                        </a:rPr>
                        <a:t>한번에 마시는 음주량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28852009"/>
                  </a:ext>
                </a:extLst>
              </a:tr>
              <a:tr h="17468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latin typeface="+mj-lt"/>
                        </a:rPr>
                        <a:t>PA_AEROBIC</a:t>
                      </a:r>
                      <a:endParaRPr lang="ko-KR" altLang="en-US" sz="10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>
                          <a:latin typeface="+mj-lt"/>
                        </a:rPr>
                        <a:t>NUMBER(3)</a:t>
                      </a:r>
                      <a:endParaRPr lang="ko-KR" altLang="en-US" sz="1000" kern="1200" dirty="0">
                        <a:solidFill>
                          <a:schemeClr val="dk1"/>
                        </a:solidFill>
                        <a:latin typeface="+mj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j-lt"/>
                        </a:rPr>
                        <a:t>유산소 신체활동 </a:t>
                      </a:r>
                      <a:r>
                        <a:rPr lang="ko-KR" altLang="en-US" sz="1000" dirty="0" err="1">
                          <a:latin typeface="+mj-lt"/>
                        </a:rPr>
                        <a:t>실천률</a:t>
                      </a:r>
                      <a:endParaRPr lang="ko-KR" altLang="en-US" sz="1000" dirty="0">
                        <a:latin typeface="+mj-l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82314019"/>
                  </a:ext>
                </a:extLst>
              </a:tr>
              <a:tr h="17468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latin typeface="+mj-lt"/>
                        </a:rPr>
                        <a:t> BE8_1</a:t>
                      </a:r>
                      <a:endParaRPr lang="ko-KR" altLang="en-US" sz="10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kern="1200">
                          <a:solidFill>
                            <a:schemeClr val="dk1"/>
                          </a:solidFill>
                          <a:latin typeface="+mj-lt"/>
                          <a:ea typeface="+mn-ea"/>
                          <a:cs typeface="+mn-cs"/>
                        </a:rPr>
                        <a:t>NUMBER(3)</a:t>
                      </a:r>
                      <a:endParaRPr lang="ko-KR" altLang="en-US" sz="1000" kern="1200" dirty="0">
                        <a:solidFill>
                          <a:schemeClr val="dk1"/>
                        </a:solidFill>
                        <a:latin typeface="+mj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j-lt"/>
                        </a:rPr>
                        <a:t>앉아서 보내는 시간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51440457"/>
                  </a:ext>
                </a:extLst>
              </a:tr>
              <a:tr h="17468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latin typeface="+mj-lt"/>
                        </a:rPr>
                        <a:t>sex</a:t>
                      </a:r>
                      <a:endParaRPr lang="ko-KR" altLang="en-US" sz="10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NUMBER(1)</a:t>
                      </a:r>
                      <a:endParaRPr lang="ko-KR" altLang="en-US" sz="10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j-lt"/>
                        </a:rPr>
                        <a:t>성별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63964283"/>
                  </a:ext>
                </a:extLst>
              </a:tr>
              <a:tr h="17468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latin typeface="+mj-lt"/>
                        </a:rPr>
                        <a:t>age</a:t>
                      </a:r>
                      <a:endParaRPr lang="ko-KR" altLang="en-US" sz="10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kern="1200" dirty="0">
                          <a:solidFill>
                            <a:schemeClr val="dk1"/>
                          </a:solidFill>
                          <a:latin typeface="+mj-lt"/>
                          <a:ea typeface="+mn-ea"/>
                          <a:cs typeface="+mn-cs"/>
                        </a:rPr>
                        <a:t>NUMBER(3)</a:t>
                      </a:r>
                      <a:endParaRPr lang="ko-KR" altLang="en-US" sz="1000" kern="1200" dirty="0">
                        <a:solidFill>
                          <a:schemeClr val="dk1"/>
                        </a:solidFill>
                        <a:latin typeface="+mj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j-lt"/>
                        </a:rPr>
                        <a:t>나이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55431713"/>
                  </a:ext>
                </a:extLst>
              </a:tr>
              <a:tr h="17468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 err="1">
                          <a:latin typeface="+mj-lt"/>
                        </a:rPr>
                        <a:t>edu</a:t>
                      </a:r>
                      <a:endParaRPr lang="ko-KR" altLang="en-US" sz="10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kern="1200" dirty="0">
                          <a:solidFill>
                            <a:schemeClr val="dk1"/>
                          </a:solidFill>
                          <a:latin typeface="+mj-lt"/>
                          <a:ea typeface="+mn-ea"/>
                          <a:cs typeface="+mn-cs"/>
                        </a:rPr>
                        <a:t>NUMBER(1)</a:t>
                      </a:r>
                      <a:endParaRPr lang="ko-KR" altLang="en-US" sz="1000" kern="1200" dirty="0">
                        <a:solidFill>
                          <a:schemeClr val="dk1"/>
                        </a:solidFill>
                        <a:latin typeface="+mj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j-lt"/>
                        </a:rPr>
                        <a:t>교육수준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86074958"/>
                  </a:ext>
                </a:extLst>
              </a:tr>
              <a:tr h="17468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>
                          <a:latin typeface="+mj-lt"/>
                        </a:rPr>
                        <a:t>incm</a:t>
                      </a:r>
                      <a:endParaRPr lang="ko-KR" altLang="en-US" sz="10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kern="1200" dirty="0">
                          <a:solidFill>
                            <a:schemeClr val="dk1"/>
                          </a:solidFill>
                          <a:latin typeface="+mj-lt"/>
                          <a:ea typeface="+mn-ea"/>
                          <a:cs typeface="+mn-cs"/>
                        </a:rPr>
                        <a:t>NUMBER</a:t>
                      </a:r>
                      <a:r>
                        <a:rPr lang="en-US" altLang="ko-KR" sz="1000" kern="1200">
                          <a:solidFill>
                            <a:schemeClr val="dk1"/>
                          </a:solidFill>
                          <a:latin typeface="+mj-lt"/>
                          <a:ea typeface="+mn-ea"/>
                          <a:cs typeface="+mn-cs"/>
                        </a:rPr>
                        <a:t>(3,1</a:t>
                      </a:r>
                      <a:r>
                        <a:rPr lang="en-US" altLang="ko-KR" sz="1000" kern="1200" dirty="0">
                          <a:solidFill>
                            <a:schemeClr val="dk1"/>
                          </a:solidFill>
                          <a:latin typeface="+mj-lt"/>
                          <a:ea typeface="+mn-ea"/>
                          <a:cs typeface="+mn-cs"/>
                        </a:rPr>
                        <a:t>)</a:t>
                      </a:r>
                      <a:endParaRPr lang="ko-KR" altLang="en-US" sz="1000" kern="1200" dirty="0">
                        <a:solidFill>
                          <a:schemeClr val="dk1"/>
                        </a:solidFill>
                        <a:latin typeface="+mj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j-lt"/>
                        </a:rPr>
                        <a:t>소득지수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03901649"/>
                  </a:ext>
                </a:extLst>
              </a:tr>
              <a:tr h="17468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latin typeface="+mj-lt"/>
                        </a:rPr>
                        <a:t>predict</a:t>
                      </a:r>
                      <a:endParaRPr lang="ko-KR" altLang="en-US" sz="10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kern="1200" dirty="0">
                          <a:solidFill>
                            <a:schemeClr val="dk1"/>
                          </a:solidFill>
                          <a:latin typeface="+mj-lt"/>
                          <a:ea typeface="+mn-ea"/>
                          <a:cs typeface="+mn-cs"/>
                        </a:rPr>
                        <a:t>NUMBER(5,4)</a:t>
                      </a:r>
                      <a:endParaRPr lang="ko-KR" altLang="en-US" sz="1000" kern="1200" dirty="0">
                        <a:solidFill>
                          <a:schemeClr val="dk1"/>
                        </a:solidFill>
                        <a:latin typeface="+mj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j-lt"/>
                        </a:rPr>
                        <a:t>예측결과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59573949"/>
                  </a:ext>
                </a:extLst>
              </a:tr>
            </a:tbl>
          </a:graphicData>
        </a:graphic>
      </p:graphicFrame>
      <p:cxnSp>
        <p:nvCxnSpPr>
          <p:cNvPr id="29" name="직선 연결선 28">
            <a:extLst>
              <a:ext uri="{FF2B5EF4-FFF2-40B4-BE49-F238E27FC236}">
                <a16:creationId xmlns:a16="http://schemas.microsoft.com/office/drawing/2014/main" id="{47A9B67D-F1BF-F1C6-8AB0-514B5FF36557}"/>
              </a:ext>
            </a:extLst>
          </p:cNvPr>
          <p:cNvCxnSpPr/>
          <p:nvPr/>
        </p:nvCxnSpPr>
        <p:spPr>
          <a:xfrm>
            <a:off x="491065" y="167133"/>
            <a:ext cx="0" cy="211666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graphicFrame>
        <p:nvGraphicFramePr>
          <p:cNvPr id="13" name="표 12">
            <a:extLst>
              <a:ext uri="{FF2B5EF4-FFF2-40B4-BE49-F238E27FC236}">
                <a16:creationId xmlns:a16="http://schemas.microsoft.com/office/drawing/2014/main" id="{E9DA52AA-CB3E-406F-88F4-5A07A804733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20916366"/>
              </p:ext>
            </p:extLst>
          </p:nvPr>
        </p:nvGraphicFramePr>
        <p:xfrm>
          <a:off x="506428" y="2436322"/>
          <a:ext cx="4384656" cy="1950720"/>
        </p:xfrm>
        <a:graphic>
          <a:graphicData uri="http://schemas.openxmlformats.org/drawingml/2006/table">
            <a:tbl>
              <a:tblPr firstRow="1" bandRow="1">
                <a:tableStyleId>{46F890A9-2807-4EBB-B81D-B2AA78EC7F39}</a:tableStyleId>
              </a:tblPr>
              <a:tblGrid>
                <a:gridCol w="1461552">
                  <a:extLst>
                    <a:ext uri="{9D8B030D-6E8A-4147-A177-3AD203B41FA5}">
                      <a16:colId xmlns:a16="http://schemas.microsoft.com/office/drawing/2014/main" val="1824734667"/>
                    </a:ext>
                  </a:extLst>
                </a:gridCol>
                <a:gridCol w="1461552">
                  <a:extLst>
                    <a:ext uri="{9D8B030D-6E8A-4147-A177-3AD203B41FA5}">
                      <a16:colId xmlns:a16="http://schemas.microsoft.com/office/drawing/2014/main" val="3879674917"/>
                    </a:ext>
                  </a:extLst>
                </a:gridCol>
                <a:gridCol w="1461552">
                  <a:extLst>
                    <a:ext uri="{9D8B030D-6E8A-4147-A177-3AD203B41FA5}">
                      <a16:colId xmlns:a16="http://schemas.microsoft.com/office/drawing/2014/main" val="1579298443"/>
                    </a:ext>
                  </a:extLst>
                </a:gridCol>
              </a:tblGrid>
              <a:tr h="147441"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COMMUNITY</a:t>
                      </a:r>
                      <a:endParaRPr lang="ko-KR" altLang="en-US" sz="10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04632163"/>
                  </a:ext>
                </a:extLst>
              </a:tr>
              <a:tr h="14744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 err="1"/>
                        <a:t>컬럼명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/>
                        <a:t>타입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설명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50253748"/>
                  </a:ext>
                </a:extLst>
              </a:tr>
              <a:tr h="14744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COM_ID(PK)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NUMBER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게시글 번호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14216227"/>
                  </a:ext>
                </a:extLst>
              </a:tr>
              <a:tr h="14744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MEM_ID(FK)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VARCHAR2(50)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작성자 </a:t>
                      </a:r>
                      <a:r>
                        <a:rPr lang="en-US" altLang="ko-KR" sz="800" dirty="0"/>
                        <a:t>ID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3770759"/>
                  </a:ext>
                </a:extLst>
              </a:tr>
              <a:tr h="14744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COM_TITLE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VARCHAR2(200)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게시글 제목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731948"/>
                  </a:ext>
                </a:extLst>
              </a:tr>
              <a:tr h="14744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COM_CONTENT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CLOB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게시글 내용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80367533"/>
                  </a:ext>
                </a:extLst>
              </a:tr>
              <a:tr h="14744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COM_VIEW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NUMBER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조회수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8978889"/>
                  </a:ext>
                </a:extLst>
              </a:tr>
              <a:tr h="14744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COM_LIKE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NUMBER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좋아요 수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37266637"/>
                  </a:ext>
                </a:extLst>
              </a:tr>
              <a:tr h="14744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COM_CREATED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DATE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작성일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11589030"/>
                  </a:ext>
                </a:extLst>
              </a:tr>
            </a:tbl>
          </a:graphicData>
        </a:graphic>
      </p:graphicFrame>
      <p:cxnSp>
        <p:nvCxnSpPr>
          <p:cNvPr id="17" name="직선 연결선 16">
            <a:extLst>
              <a:ext uri="{FF2B5EF4-FFF2-40B4-BE49-F238E27FC236}">
                <a16:creationId xmlns:a16="http://schemas.microsoft.com/office/drawing/2014/main" id="{D07A74ED-DBC4-42C9-9572-9A3F04571BAC}"/>
              </a:ext>
            </a:extLst>
          </p:cNvPr>
          <p:cNvCxnSpPr>
            <a:cxnSpLocks/>
            <a:stCxn id="59" idx="2"/>
          </p:cNvCxnSpPr>
          <p:nvPr/>
        </p:nvCxnSpPr>
        <p:spPr>
          <a:xfrm>
            <a:off x="2700865" y="1687251"/>
            <a:ext cx="0" cy="691061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9" name="직선 연결선 18">
            <a:extLst>
              <a:ext uri="{FF2B5EF4-FFF2-40B4-BE49-F238E27FC236}">
                <a16:creationId xmlns:a16="http://schemas.microsoft.com/office/drawing/2014/main" id="{6AD03153-3389-44F4-911E-7F108D19FA86}"/>
              </a:ext>
            </a:extLst>
          </p:cNvPr>
          <p:cNvCxnSpPr>
            <a:cxnSpLocks/>
          </p:cNvCxnSpPr>
          <p:nvPr/>
        </p:nvCxnSpPr>
        <p:spPr>
          <a:xfrm flipH="1">
            <a:off x="2580233" y="2370545"/>
            <a:ext cx="110055" cy="50802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6" name="직선 연결선 25">
            <a:extLst>
              <a:ext uri="{FF2B5EF4-FFF2-40B4-BE49-F238E27FC236}">
                <a16:creationId xmlns:a16="http://schemas.microsoft.com/office/drawing/2014/main" id="{780AA1E5-FCDB-4588-9C76-39C6BCEF3659}"/>
              </a:ext>
            </a:extLst>
          </p:cNvPr>
          <p:cNvCxnSpPr>
            <a:cxnSpLocks/>
          </p:cNvCxnSpPr>
          <p:nvPr/>
        </p:nvCxnSpPr>
        <p:spPr>
          <a:xfrm>
            <a:off x="2698756" y="2353611"/>
            <a:ext cx="127000" cy="67736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2" name="연결선: 꺾임 41">
            <a:extLst>
              <a:ext uri="{FF2B5EF4-FFF2-40B4-BE49-F238E27FC236}">
                <a16:creationId xmlns:a16="http://schemas.microsoft.com/office/drawing/2014/main" id="{154288D2-B13F-44CA-9717-626906DD1062}"/>
              </a:ext>
            </a:extLst>
          </p:cNvPr>
          <p:cNvCxnSpPr>
            <a:cxnSpLocks/>
          </p:cNvCxnSpPr>
          <p:nvPr/>
        </p:nvCxnSpPr>
        <p:spPr>
          <a:xfrm>
            <a:off x="4895310" y="1282064"/>
            <a:ext cx="1989666" cy="1744134"/>
          </a:xfrm>
          <a:prstGeom prst="bentConnector3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6" name="직선 연결선 45">
            <a:extLst>
              <a:ext uri="{FF2B5EF4-FFF2-40B4-BE49-F238E27FC236}">
                <a16:creationId xmlns:a16="http://schemas.microsoft.com/office/drawing/2014/main" id="{E35F41A6-C58A-40C5-81D7-21A86EE54DA5}"/>
              </a:ext>
            </a:extLst>
          </p:cNvPr>
          <p:cNvCxnSpPr>
            <a:cxnSpLocks/>
          </p:cNvCxnSpPr>
          <p:nvPr/>
        </p:nvCxnSpPr>
        <p:spPr>
          <a:xfrm flipV="1">
            <a:off x="6900333" y="2913516"/>
            <a:ext cx="95257" cy="10061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8" name="직선 연결선 47">
            <a:extLst>
              <a:ext uri="{FF2B5EF4-FFF2-40B4-BE49-F238E27FC236}">
                <a16:creationId xmlns:a16="http://schemas.microsoft.com/office/drawing/2014/main" id="{204CDC59-CA76-484A-BDF5-A6902A43DA24}"/>
              </a:ext>
            </a:extLst>
          </p:cNvPr>
          <p:cNvCxnSpPr>
            <a:cxnSpLocks/>
          </p:cNvCxnSpPr>
          <p:nvPr/>
        </p:nvCxnSpPr>
        <p:spPr>
          <a:xfrm>
            <a:off x="6900333" y="3022600"/>
            <a:ext cx="97362" cy="88052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5B04E8FA-EA8B-49E5-85D1-EFB4E46B2153}"/>
              </a:ext>
            </a:extLst>
          </p:cNvPr>
          <p:cNvSpPr txBox="1"/>
          <p:nvPr/>
        </p:nvSpPr>
        <p:spPr>
          <a:xfrm flipH="1">
            <a:off x="4864604" y="1095796"/>
            <a:ext cx="19473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b="1" dirty="0"/>
              <a:t>1</a:t>
            </a:r>
            <a:endParaRPr lang="ko-KR" altLang="en-US" sz="800" b="1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8827DF37-AB8E-4123-890F-F567BCA2B7F8}"/>
              </a:ext>
            </a:extLst>
          </p:cNvPr>
          <p:cNvSpPr txBox="1"/>
          <p:nvPr/>
        </p:nvSpPr>
        <p:spPr>
          <a:xfrm flipH="1">
            <a:off x="6726240" y="2822817"/>
            <a:ext cx="19473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b="1" dirty="0"/>
              <a:t>N</a:t>
            </a:r>
            <a:endParaRPr lang="ko-KR" altLang="en-US" sz="800" b="1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4409B00-437D-4D5E-9463-39E574AB914C}"/>
              </a:ext>
            </a:extLst>
          </p:cNvPr>
          <p:cNvSpPr txBox="1"/>
          <p:nvPr/>
        </p:nvSpPr>
        <p:spPr>
          <a:xfrm flipH="1">
            <a:off x="2672807" y="1652878"/>
            <a:ext cx="19473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b="1" dirty="0"/>
              <a:t>1</a:t>
            </a:r>
            <a:endParaRPr lang="ko-KR" altLang="en-US" sz="800" b="1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EEBC869-0971-4441-98E4-FB22BAD956BA}"/>
              </a:ext>
            </a:extLst>
          </p:cNvPr>
          <p:cNvSpPr txBox="1"/>
          <p:nvPr/>
        </p:nvSpPr>
        <p:spPr>
          <a:xfrm flipH="1">
            <a:off x="2675481" y="2197398"/>
            <a:ext cx="19473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b="1" dirty="0"/>
              <a:t>N</a:t>
            </a:r>
            <a:endParaRPr lang="ko-KR" altLang="en-US" sz="800" b="1" dirty="0"/>
          </a:p>
        </p:txBody>
      </p:sp>
      <p:graphicFrame>
        <p:nvGraphicFramePr>
          <p:cNvPr id="12" name="표 11">
            <a:extLst>
              <a:ext uri="{FF2B5EF4-FFF2-40B4-BE49-F238E27FC236}">
                <a16:creationId xmlns:a16="http://schemas.microsoft.com/office/drawing/2014/main" id="{33D7F776-BD2E-4666-A91D-F4D8865884E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94325727"/>
              </p:ext>
            </p:extLst>
          </p:nvPr>
        </p:nvGraphicFramePr>
        <p:xfrm>
          <a:off x="506428" y="4664366"/>
          <a:ext cx="4384656" cy="1280160"/>
        </p:xfrm>
        <a:graphic>
          <a:graphicData uri="http://schemas.openxmlformats.org/drawingml/2006/table">
            <a:tbl>
              <a:tblPr firstRow="1" bandRow="1">
                <a:tableStyleId>{46F890A9-2807-4EBB-B81D-B2AA78EC7F39}</a:tableStyleId>
              </a:tblPr>
              <a:tblGrid>
                <a:gridCol w="1461552">
                  <a:extLst>
                    <a:ext uri="{9D8B030D-6E8A-4147-A177-3AD203B41FA5}">
                      <a16:colId xmlns:a16="http://schemas.microsoft.com/office/drawing/2014/main" val="2756051526"/>
                    </a:ext>
                  </a:extLst>
                </a:gridCol>
                <a:gridCol w="1461552">
                  <a:extLst>
                    <a:ext uri="{9D8B030D-6E8A-4147-A177-3AD203B41FA5}">
                      <a16:colId xmlns:a16="http://schemas.microsoft.com/office/drawing/2014/main" val="3649046412"/>
                    </a:ext>
                  </a:extLst>
                </a:gridCol>
                <a:gridCol w="1461552">
                  <a:extLst>
                    <a:ext uri="{9D8B030D-6E8A-4147-A177-3AD203B41FA5}">
                      <a16:colId xmlns:a16="http://schemas.microsoft.com/office/drawing/2014/main" val="292045944"/>
                    </a:ext>
                  </a:extLst>
                </a:gridCol>
              </a:tblGrid>
              <a:tr h="144739"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COMMENT</a:t>
                      </a:r>
                      <a:endParaRPr lang="ko-KR" altLang="en-US" sz="8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90623324"/>
                  </a:ext>
                </a:extLst>
              </a:tr>
              <a:tr h="20985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 err="1"/>
                        <a:t>컬럼명</a:t>
                      </a:r>
                      <a:endParaRPr lang="ko-KR" altLang="en-US" sz="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타입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설명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40640162"/>
                  </a:ext>
                </a:extLst>
              </a:tr>
              <a:tr h="14473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COM_ID(PK, FK)</a:t>
                      </a:r>
                      <a:endParaRPr lang="ko-KR" altLang="en-US" sz="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NUMBER</a:t>
                      </a:r>
                      <a:endParaRPr lang="ko-KR" altLang="en-US" sz="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게시글 번호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43346301"/>
                  </a:ext>
                </a:extLst>
              </a:tr>
              <a:tr h="14473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MEM_ID(PK, FK)</a:t>
                      </a:r>
                      <a:endParaRPr lang="ko-KR" altLang="en-US" sz="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VARCHAR2(50)</a:t>
                      </a:r>
                      <a:endParaRPr lang="ko-KR" altLang="en-US" sz="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작성자 </a:t>
                      </a:r>
                      <a:r>
                        <a:rPr lang="en-US" altLang="ko-KR" sz="800" dirty="0"/>
                        <a:t>ID</a:t>
                      </a:r>
                      <a:endParaRPr lang="ko-KR" altLang="en-US" sz="8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76276053"/>
                  </a:ext>
                </a:extLst>
              </a:tr>
              <a:tr h="14473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COMMENT_CREATED(PK)</a:t>
                      </a:r>
                      <a:endParaRPr lang="ko-KR" altLang="en-US" sz="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/>
                        <a:t>DATE</a:t>
                      </a:r>
                      <a:endParaRPr lang="ko-KR" altLang="en-US" sz="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/>
                        <a:t>댓글 작성일시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4429227"/>
                  </a:ext>
                </a:extLst>
              </a:tr>
              <a:tr h="14473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COMMENT_CONTENT</a:t>
                      </a:r>
                      <a:endParaRPr lang="ko-KR" altLang="en-US" sz="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/>
                        <a:t>VARCHAR2(1000)</a:t>
                      </a:r>
                      <a:endParaRPr lang="ko-KR" altLang="en-US" sz="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/>
                        <a:t>댓글 내용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51369099"/>
                  </a:ext>
                </a:extLst>
              </a:tr>
            </a:tbl>
          </a:graphicData>
        </a:graphic>
      </p:graphicFrame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D919A32A-F8CB-404F-AE35-A5E1143751A0}"/>
              </a:ext>
            </a:extLst>
          </p:cNvPr>
          <p:cNvCxnSpPr/>
          <p:nvPr/>
        </p:nvCxnSpPr>
        <p:spPr>
          <a:xfrm>
            <a:off x="4899552" y="913474"/>
            <a:ext cx="679982" cy="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2" name="직선 연결선 31">
            <a:extLst>
              <a:ext uri="{FF2B5EF4-FFF2-40B4-BE49-F238E27FC236}">
                <a16:creationId xmlns:a16="http://schemas.microsoft.com/office/drawing/2014/main" id="{B748B9AB-FF20-495F-ACCF-22E08CE1054D}"/>
              </a:ext>
            </a:extLst>
          </p:cNvPr>
          <p:cNvCxnSpPr/>
          <p:nvPr/>
        </p:nvCxnSpPr>
        <p:spPr>
          <a:xfrm>
            <a:off x="5579534" y="913474"/>
            <a:ext cx="0" cy="4390972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4" name="직선 연결선 33">
            <a:extLst>
              <a:ext uri="{FF2B5EF4-FFF2-40B4-BE49-F238E27FC236}">
                <a16:creationId xmlns:a16="http://schemas.microsoft.com/office/drawing/2014/main" id="{4E13562C-95DE-4722-B988-B265120AF51D}"/>
              </a:ext>
            </a:extLst>
          </p:cNvPr>
          <p:cNvCxnSpPr>
            <a:cxnSpLocks/>
          </p:cNvCxnSpPr>
          <p:nvPr/>
        </p:nvCxnSpPr>
        <p:spPr>
          <a:xfrm>
            <a:off x="5033431" y="5304446"/>
            <a:ext cx="546103" cy="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7" name="직선 연결선 36">
            <a:extLst>
              <a:ext uri="{FF2B5EF4-FFF2-40B4-BE49-F238E27FC236}">
                <a16:creationId xmlns:a16="http://schemas.microsoft.com/office/drawing/2014/main" id="{A88DD921-AB6E-4163-9769-980749D5EB90}"/>
              </a:ext>
            </a:extLst>
          </p:cNvPr>
          <p:cNvCxnSpPr>
            <a:cxnSpLocks/>
          </p:cNvCxnSpPr>
          <p:nvPr/>
        </p:nvCxnSpPr>
        <p:spPr>
          <a:xfrm flipH="1" flipV="1">
            <a:off x="4902118" y="5173133"/>
            <a:ext cx="131314" cy="131314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9" name="직선 연결선 38">
            <a:extLst>
              <a:ext uri="{FF2B5EF4-FFF2-40B4-BE49-F238E27FC236}">
                <a16:creationId xmlns:a16="http://schemas.microsoft.com/office/drawing/2014/main" id="{9C69E5A9-1EEB-4970-8377-642E20188D7D}"/>
              </a:ext>
            </a:extLst>
          </p:cNvPr>
          <p:cNvCxnSpPr>
            <a:cxnSpLocks/>
          </p:cNvCxnSpPr>
          <p:nvPr/>
        </p:nvCxnSpPr>
        <p:spPr>
          <a:xfrm flipH="1">
            <a:off x="4902117" y="5304446"/>
            <a:ext cx="131315" cy="131314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BDD08791-A8CD-471E-A431-44FCFFEAC63E}"/>
              </a:ext>
            </a:extLst>
          </p:cNvPr>
          <p:cNvSpPr txBox="1"/>
          <p:nvPr/>
        </p:nvSpPr>
        <p:spPr>
          <a:xfrm flipH="1">
            <a:off x="4839211" y="697578"/>
            <a:ext cx="19473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b="1" dirty="0"/>
              <a:t>1</a:t>
            </a:r>
            <a:endParaRPr lang="ko-KR" altLang="en-US" sz="800" b="1" dirty="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58DA3E3-818A-4997-BF21-C4EE321CD3C2}"/>
              </a:ext>
            </a:extLst>
          </p:cNvPr>
          <p:cNvSpPr txBox="1"/>
          <p:nvPr/>
        </p:nvSpPr>
        <p:spPr>
          <a:xfrm flipH="1">
            <a:off x="4972559" y="5131068"/>
            <a:ext cx="19473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b="1" dirty="0"/>
              <a:t>N</a:t>
            </a:r>
            <a:endParaRPr lang="ko-KR" altLang="en-US" sz="800" b="1" dirty="0"/>
          </a:p>
        </p:txBody>
      </p:sp>
    </p:spTree>
    <p:extLst>
      <p:ext uri="{BB962C8B-B14F-4D97-AF65-F5344CB8AC3E}">
        <p14:creationId xmlns:p14="http://schemas.microsoft.com/office/powerpoint/2010/main" val="36903278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509</TotalTime>
  <Words>323</Words>
  <Application>Microsoft Office PowerPoint</Application>
  <PresentationFormat>와이드스크린</PresentationFormat>
  <Paragraphs>137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4" baseType="lpstr">
      <vt:lpstr>맑은 고딕</vt:lpstr>
      <vt:lpstr>Arial</vt:lpstr>
      <vt:lpstr>Office 테마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Administrator</dc:creator>
  <cp:lastModifiedBy>Administrator</cp:lastModifiedBy>
  <cp:revision>56</cp:revision>
  <dcterms:created xsi:type="dcterms:W3CDTF">2026-05-13T07:30:45Z</dcterms:created>
  <dcterms:modified xsi:type="dcterms:W3CDTF">2026-05-18T23:35:24Z</dcterms:modified>
</cp:coreProperties>
</file>