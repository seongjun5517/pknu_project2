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46F890A9-2807-4EBB-B81D-B2AA78EC7F39}" styleName="어두운 스타일 2 - 강조 5/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937D24-876F-4C3F-96AE-663C54E96C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503BA20-CB8E-4CA3-9FCA-B23D541924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1E31F2-27F5-4C9A-9ADF-A081E1D67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86D192B-893F-49BE-B18A-F618F17DA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DCBC27-8B3C-4F81-AF81-56757C916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676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2A099F-7C7D-4ADD-A1D0-7AD90B568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B9414A-9752-4B2A-BFBE-3BEF5D199E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DA6A4D-8701-409B-A005-C00C78724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826FAD-07AB-4CF7-A2D0-463AC3499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62C09F-15FB-4284-8678-3901CC72B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95048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B169CC-099C-4CFE-B704-4AC9DD342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E4008C-C90D-4D44-8A41-8DB14D1413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C2A34BD-ED42-47BD-A950-79847A7A9C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567A38D-B0E7-4029-AA70-D7611574D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4A4C2F-C71D-4AF5-8646-1B3545B84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3659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AD7517-9FD3-44FA-AA3A-B6BC636B5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8FF0B1-895C-41FF-A7DF-FC0DB8AD7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7DB5D8A-020B-44B8-98A4-E2CC21481E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6A3704-BBCA-41EC-8212-40CD607A6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6BD374-BC8B-47D3-9AFB-A2E931311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811608D-AA8C-410A-87EA-A5DDFD02C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7002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ED3F22-4078-4988-A112-4F25F8FEF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BD6C53E-4003-4119-BEC6-2F2979C37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A27793-A3E4-42F7-AD34-EEE981395C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E56A245-EBB3-4B0B-8B7C-2F07809E89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E79E43-428A-4199-A3DF-BF851BD39C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B8EF1B2-C4D4-421E-BD41-66D84C38F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1A589EB-22D5-4C5D-8563-B146D0DCC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6D7425C-D181-4D4E-BD31-F948E1799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7320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C70B72-0ACC-4772-ABB5-23B13D8B4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701096F-1F6A-4006-9789-E72822E83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824D9B2-F548-40D4-870F-EC93D3C8A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6435A13-5BA8-4B44-B248-90D977EB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0797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0C22A3C-A8F2-4431-8379-F296D7A6D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6D925CB-DD52-40D4-A839-BA3111DFA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DC1A91-4D29-4CCF-A3BA-8E0253B17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273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E8A315-A56D-4D92-A1AD-96F4ED923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BB68C5-C81B-4001-96AB-3C60B6B644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56E254-6F9C-4E51-B66C-2D8D931B2D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22F9F5-DF57-47AA-800C-DF5D18AA6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834911E-DD98-431C-9471-7027A8224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AE8C62A-F662-4E71-93EF-A1165CE36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6731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8FAF5F-6196-4216-9F0D-C20FA9733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5FEF218-9C0E-4682-AA6E-9E001E890C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83B024C-A89F-4B3C-82E8-07AF915C03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37A1D2-2A12-4C99-8A35-B06B73C7E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9D10852-D495-4D7A-89FE-5B8F5D4E8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D318DCA-68EB-44BF-8487-BE2FDCF2A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92463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737F90-C354-4931-A54B-1FAFC629F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B193D47-886D-47A4-B77A-669739589F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A1D2A7-919F-4EED-860C-FB817966C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B93275-2DAC-4CF7-8405-1411DCDED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AB5A9B-C24C-4B8E-BB61-4AC0C34A8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14360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BFCF6A9-F47A-494B-AFDB-DC021E83847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8F2982E-4852-46D5-9610-769BB52A1D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8754CB3-3848-49FE-A32A-999703F91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AD2F71-BBB9-4AD4-82F3-5C1248B9C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6B356F-D3EE-42BD-9B5D-AE81600DD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61885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82326C9-44DD-4688-B046-A13C2B72D9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3C437F-E8DE-4318-85E2-7E3631DDF1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3B1DF1-7CF3-408D-A142-125FBC7C6B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EE36B7-F0BA-4AB3-BD67-20AC5E002CC9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94DDA5-9AB0-40AE-A886-6B9E52BF86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DC8165-CACD-4F92-A1CC-D7339ED19D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0172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B212A03-CF85-4A4F-939A-83A86EB04937}"/>
              </a:ext>
            </a:extLst>
          </p:cNvPr>
          <p:cNvSpPr txBox="1"/>
          <p:nvPr/>
        </p:nvSpPr>
        <p:spPr>
          <a:xfrm>
            <a:off x="438686" y="72910"/>
            <a:ext cx="3547541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latin typeface="+mj-lt"/>
              </a:rPr>
              <a:t>ERD </a:t>
            </a:r>
            <a:r>
              <a:rPr lang="ko-KR" altLang="en-US" b="1" dirty="0">
                <a:latin typeface="+mj-lt"/>
              </a:rPr>
              <a:t>설계</a:t>
            </a:r>
            <a:r>
              <a:rPr lang="en-US" altLang="ko-KR" b="1" dirty="0">
                <a:latin typeface="+mj-lt"/>
              </a:rPr>
              <a:t>(</a:t>
            </a:r>
            <a:r>
              <a:rPr lang="ko-KR" altLang="en-US" b="1" dirty="0">
                <a:latin typeface="+mj-lt"/>
              </a:rPr>
              <a:t>회원 </a:t>
            </a:r>
            <a:r>
              <a:rPr lang="en-US" altLang="ko-KR" b="1" dirty="0">
                <a:latin typeface="+mj-lt"/>
              </a:rPr>
              <a:t>&amp; </a:t>
            </a:r>
            <a:r>
              <a:rPr lang="ko-KR" altLang="en-US" b="1" dirty="0">
                <a:latin typeface="+mj-lt"/>
              </a:rPr>
              <a:t>건강 데이터</a:t>
            </a:r>
            <a:r>
              <a:rPr lang="en-US" altLang="ko-KR" b="1" dirty="0">
                <a:latin typeface="+mj-lt"/>
              </a:rPr>
              <a:t>)</a:t>
            </a:r>
            <a:endParaRPr lang="ko-KR" altLang="en-US" b="1" dirty="0">
              <a:latin typeface="+mj-lt"/>
            </a:endParaRPr>
          </a:p>
        </p:txBody>
      </p:sp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7C7E4B60-7063-4FA8-AA9A-B837E6C1DC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7101696"/>
              </p:ext>
            </p:extLst>
          </p:nvPr>
        </p:nvGraphicFramePr>
        <p:xfrm>
          <a:off x="491064" y="553399"/>
          <a:ext cx="4419602" cy="1353635"/>
        </p:xfrm>
        <a:graphic>
          <a:graphicData uri="http://schemas.openxmlformats.org/drawingml/2006/table">
            <a:tbl>
              <a:tblPr firstRow="1" bandRow="1">
                <a:tableStyleId>{46F890A9-2807-4EBB-B81D-B2AA78EC7F39}</a:tableStyleId>
              </a:tblPr>
              <a:tblGrid>
                <a:gridCol w="1828802">
                  <a:extLst>
                    <a:ext uri="{9D8B030D-6E8A-4147-A177-3AD203B41FA5}">
                      <a16:colId xmlns:a16="http://schemas.microsoft.com/office/drawing/2014/main" val="1696981840"/>
                    </a:ext>
                  </a:extLst>
                </a:gridCol>
                <a:gridCol w="1154665">
                  <a:extLst>
                    <a:ext uri="{9D8B030D-6E8A-4147-A177-3AD203B41FA5}">
                      <a16:colId xmlns:a16="http://schemas.microsoft.com/office/drawing/2014/main" val="2515604457"/>
                    </a:ext>
                  </a:extLst>
                </a:gridCol>
                <a:gridCol w="1436135">
                  <a:extLst>
                    <a:ext uri="{9D8B030D-6E8A-4147-A177-3AD203B41FA5}">
                      <a16:colId xmlns:a16="http://schemas.microsoft.com/office/drawing/2014/main" val="2768927076"/>
                    </a:ext>
                  </a:extLst>
                </a:gridCol>
              </a:tblGrid>
              <a:tr h="254720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latin typeface="+mj-lt"/>
                        </a:rPr>
                        <a:t>MEMBER</a:t>
                      </a:r>
                      <a:endParaRPr lang="ko-KR" altLang="en-US" sz="1000" b="1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4863155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 err="1">
                          <a:latin typeface="+mj-lt"/>
                        </a:rPr>
                        <a:t>컬럼명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설명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4577641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MEM_ID(PK)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varchar2(50)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회원</a:t>
                      </a:r>
                      <a:r>
                        <a:rPr lang="en-US" altLang="ko-KR" sz="800" dirty="0">
                          <a:latin typeface="+mj-lt"/>
                        </a:rPr>
                        <a:t>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4362222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MEM_PHONE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varchar2(15)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전화번호</a:t>
                      </a:r>
                      <a:endParaRPr lang="en-US" altLang="ko-KR" sz="8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9024640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MEM_NAME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varchar2(20)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성명</a:t>
                      </a:r>
                      <a:endParaRPr lang="en-US" altLang="ko-KR" sz="8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03292638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MEM_NICKNAME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varchar2(50)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닉네임</a:t>
                      </a:r>
                      <a:endParaRPr lang="en-US" altLang="ko-KR" sz="8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18841852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34F898F5-6033-4C8F-857D-E3FA469DCE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6966509"/>
              </p:ext>
            </p:extLst>
          </p:nvPr>
        </p:nvGraphicFramePr>
        <p:xfrm>
          <a:off x="8157631" y="167133"/>
          <a:ext cx="3812911" cy="5669280"/>
        </p:xfrm>
        <a:graphic>
          <a:graphicData uri="http://schemas.openxmlformats.org/drawingml/2006/table">
            <a:tbl>
              <a:tblPr firstRow="1" bandRow="1">
                <a:tableStyleId>{46F890A9-2807-4EBB-B81D-B2AA78EC7F39}</a:tableStyleId>
              </a:tblPr>
              <a:tblGrid>
                <a:gridCol w="1206141">
                  <a:extLst>
                    <a:ext uri="{9D8B030D-6E8A-4147-A177-3AD203B41FA5}">
                      <a16:colId xmlns:a16="http://schemas.microsoft.com/office/drawing/2014/main" val="3443687360"/>
                    </a:ext>
                  </a:extLst>
                </a:gridCol>
                <a:gridCol w="1180553">
                  <a:extLst>
                    <a:ext uri="{9D8B030D-6E8A-4147-A177-3AD203B41FA5}">
                      <a16:colId xmlns:a16="http://schemas.microsoft.com/office/drawing/2014/main" val="2170985730"/>
                    </a:ext>
                  </a:extLst>
                </a:gridCol>
                <a:gridCol w="1426217">
                  <a:extLst>
                    <a:ext uri="{9D8B030D-6E8A-4147-A177-3AD203B41FA5}">
                      <a16:colId xmlns:a16="http://schemas.microsoft.com/office/drawing/2014/main" val="1969969579"/>
                    </a:ext>
                  </a:extLst>
                </a:gridCol>
              </a:tblGrid>
              <a:tr h="156429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DATA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8467015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 err="1">
                          <a:latin typeface="+mj-lt"/>
                        </a:rPr>
                        <a:t>컬럼명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설명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8242454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DATA_ID(PK)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NUMBER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진단 데이터 고유번호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0677752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MEM_ID(FK)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varchar2(15)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회원</a:t>
                      </a:r>
                      <a:r>
                        <a:rPr lang="en-US" altLang="ko-KR" sz="800" dirty="0">
                          <a:latin typeface="+mj-lt"/>
                        </a:rPr>
                        <a:t>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6660445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CHECK_DATE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DATE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검진날짜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8119353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DI1_dg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NUMBER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고혈압 진단여부</a:t>
                      </a:r>
                      <a:endParaRPr lang="en-US" altLang="ko-KR" sz="8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2342931"/>
                  </a:ext>
                </a:extLst>
              </a:tr>
              <a:tr h="2458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DI2_dg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 err="1">
                          <a:latin typeface="+mj-lt"/>
                        </a:rPr>
                        <a:t>이상지질혈증</a:t>
                      </a:r>
                      <a:r>
                        <a:rPr lang="ko-KR" altLang="en-US" sz="800" dirty="0">
                          <a:latin typeface="+mj-lt"/>
                        </a:rPr>
                        <a:t> 의사진단여부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7908341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 DE1_dg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당뇨병 의사진단 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8066759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DI3_dg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뇌졸중 의사 진단 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8941136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HE_HP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고혈압 유병여부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576024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 err="1">
                          <a:latin typeface="+mj-lt"/>
                        </a:rPr>
                        <a:t>HE_glu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NUMBER(5,1)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공복혈당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3946907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HE_HbA1c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NUMBER(3,1)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당화혈색소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3743177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HE_CHOL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NUMBER(5,1)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총콜레스테롤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885351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HE_TG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NUMBER(6,1)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중성지방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77254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HE_BMI 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NUMBER(5,2)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체질량지수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1586605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HE_WC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NUMBER(5,1)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복부비만</a:t>
                      </a:r>
                      <a:r>
                        <a:rPr lang="en-US" altLang="ko-KR" sz="800" dirty="0">
                          <a:latin typeface="+mj-lt"/>
                        </a:rPr>
                        <a:t>/</a:t>
                      </a:r>
                      <a:r>
                        <a:rPr lang="ko-KR" altLang="en-US" sz="800" dirty="0">
                          <a:latin typeface="+mj-lt"/>
                        </a:rPr>
                        <a:t>허리둘레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2502504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BS1_1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NUMBER(2)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평생 일반담배 흡연 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51890753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BD1_11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NUMBER(2)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1</a:t>
                      </a:r>
                      <a:r>
                        <a:rPr lang="ko-KR" altLang="en-US" sz="800" dirty="0">
                          <a:latin typeface="+mj-lt"/>
                        </a:rPr>
                        <a:t>년간 음주 빈도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8713512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BD2_1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NUMBER(2)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한번에 마시는 음주량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8852009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PA_AEROBIC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NUMBER(3)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유산소 신체활동 </a:t>
                      </a:r>
                      <a:r>
                        <a:rPr lang="ko-KR" altLang="en-US" sz="800" dirty="0" err="1">
                          <a:latin typeface="+mj-lt"/>
                        </a:rPr>
                        <a:t>실천률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2314019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 BE8_1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NUMBER(3)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앉아서 보내는 시간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1440457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sex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NUMBER(1)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성별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3964283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age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NUMBER(3)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나이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5431713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 err="1">
                          <a:latin typeface="+mj-lt"/>
                        </a:rPr>
                        <a:t>edu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NUMBER(1)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교육수준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6074958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+mj-lt"/>
                        </a:rPr>
                        <a:t>incm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r>
                        <a:rPr lang="en-US" altLang="ko-KR" sz="800" kern="120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(3,1</a:t>
                      </a:r>
                      <a:r>
                        <a:rPr lang="en-US" altLang="ko-KR" sz="8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소득지수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3901649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predict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NUMBER(5,4)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예측결과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9573949"/>
                  </a:ext>
                </a:extLst>
              </a:tr>
            </a:tbl>
          </a:graphicData>
        </a:graphic>
      </p:graphicFrame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47A9B67D-F1BF-F1C6-8AB0-514B5FF36557}"/>
              </a:ext>
            </a:extLst>
          </p:cNvPr>
          <p:cNvCxnSpPr/>
          <p:nvPr/>
        </p:nvCxnSpPr>
        <p:spPr>
          <a:xfrm>
            <a:off x="491065" y="167133"/>
            <a:ext cx="0" cy="2116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E9DA52AA-CB3E-406F-88F4-5A07A80473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701685"/>
              </p:ext>
            </p:extLst>
          </p:nvPr>
        </p:nvGraphicFramePr>
        <p:xfrm>
          <a:off x="506428" y="2436322"/>
          <a:ext cx="4384656" cy="2164080"/>
        </p:xfrm>
        <a:graphic>
          <a:graphicData uri="http://schemas.openxmlformats.org/drawingml/2006/table">
            <a:tbl>
              <a:tblPr firstRow="1" bandRow="1">
                <a:tableStyleId>{46F890A9-2807-4EBB-B81D-B2AA78EC7F39}</a:tableStyleId>
              </a:tblPr>
              <a:tblGrid>
                <a:gridCol w="1461552">
                  <a:extLst>
                    <a:ext uri="{9D8B030D-6E8A-4147-A177-3AD203B41FA5}">
                      <a16:colId xmlns:a16="http://schemas.microsoft.com/office/drawing/2014/main" val="1824734667"/>
                    </a:ext>
                  </a:extLst>
                </a:gridCol>
                <a:gridCol w="1461552">
                  <a:extLst>
                    <a:ext uri="{9D8B030D-6E8A-4147-A177-3AD203B41FA5}">
                      <a16:colId xmlns:a16="http://schemas.microsoft.com/office/drawing/2014/main" val="3879674917"/>
                    </a:ext>
                  </a:extLst>
                </a:gridCol>
                <a:gridCol w="1461552">
                  <a:extLst>
                    <a:ext uri="{9D8B030D-6E8A-4147-A177-3AD203B41FA5}">
                      <a16:colId xmlns:a16="http://schemas.microsoft.com/office/drawing/2014/main" val="1579298443"/>
                    </a:ext>
                  </a:extLst>
                </a:gridCol>
              </a:tblGrid>
              <a:tr h="147441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n-lt"/>
                        </a:rPr>
                        <a:t>COMMUNITY</a:t>
                      </a:r>
                      <a:endParaRPr lang="ko-KR" altLang="en-US" sz="1000" dirty="0">
                        <a:latin typeface="+mn-lt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4632163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 err="1">
                          <a:latin typeface="+mn-lt"/>
                        </a:rPr>
                        <a:t>컬럼명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>
                          <a:latin typeface="+mn-lt"/>
                        </a:rPr>
                        <a:t>타입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n-lt"/>
                        </a:rPr>
                        <a:t>설명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0253748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COM_ID(PK)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NUMBER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n-lt"/>
                        </a:rPr>
                        <a:t>게시글 번호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4216227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MEM_ID(FK)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VARCHAR2(50)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n-lt"/>
                        </a:rPr>
                        <a:t>작성자 </a:t>
                      </a:r>
                      <a:r>
                        <a:rPr lang="en-US" altLang="ko-KR" sz="800" dirty="0">
                          <a:latin typeface="+mn-lt"/>
                        </a:rPr>
                        <a:t>ID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3770759"/>
                  </a:ext>
                </a:extLst>
              </a:tr>
              <a:tr h="178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COM_TITLE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VARCHAR2(200)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n-lt"/>
                        </a:rPr>
                        <a:t>게시글 제목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731948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COM_CONTENT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CLOB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n-lt"/>
                        </a:rPr>
                        <a:t>게시글 내용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0367533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COM_CATEGORY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lt"/>
                        </a:rPr>
                        <a:t>VARCHAR2(50)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n-lt"/>
                        </a:rPr>
                        <a:t>카테고리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4601710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COM_VIEW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NUMBER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n-lt"/>
                        </a:rPr>
                        <a:t>조회수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978889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COM_LIKE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NUMBER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n-lt"/>
                        </a:rPr>
                        <a:t>좋아요 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7266637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COM_CREATED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DATE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n-lt"/>
                        </a:rPr>
                        <a:t>작성일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1589030"/>
                  </a:ext>
                </a:extLst>
              </a:tr>
            </a:tbl>
          </a:graphicData>
        </a:graphic>
      </p:graphicFrame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D07A74ED-DBC4-42C9-9572-9A3F04571BAC}"/>
              </a:ext>
            </a:extLst>
          </p:cNvPr>
          <p:cNvCxnSpPr>
            <a:cxnSpLocks/>
            <a:stCxn id="59" idx="2"/>
          </p:cNvCxnSpPr>
          <p:nvPr/>
        </p:nvCxnSpPr>
        <p:spPr>
          <a:xfrm>
            <a:off x="2700865" y="1907034"/>
            <a:ext cx="0" cy="471278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AD03153-3389-44F4-911E-7F108D19FA86}"/>
              </a:ext>
            </a:extLst>
          </p:cNvPr>
          <p:cNvCxnSpPr>
            <a:cxnSpLocks/>
          </p:cNvCxnSpPr>
          <p:nvPr/>
        </p:nvCxnSpPr>
        <p:spPr>
          <a:xfrm flipH="1">
            <a:off x="2580233" y="2370545"/>
            <a:ext cx="110055" cy="50802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780AA1E5-FCDB-4588-9C76-39C6BCEF3659}"/>
              </a:ext>
            </a:extLst>
          </p:cNvPr>
          <p:cNvCxnSpPr>
            <a:cxnSpLocks/>
          </p:cNvCxnSpPr>
          <p:nvPr/>
        </p:nvCxnSpPr>
        <p:spPr>
          <a:xfrm>
            <a:off x="2698756" y="2353611"/>
            <a:ext cx="127000" cy="6773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" name="연결선: 꺾임 41">
            <a:extLst>
              <a:ext uri="{FF2B5EF4-FFF2-40B4-BE49-F238E27FC236}">
                <a16:creationId xmlns:a16="http://schemas.microsoft.com/office/drawing/2014/main" id="{154288D2-B13F-44CA-9717-626906DD1062}"/>
              </a:ext>
            </a:extLst>
          </p:cNvPr>
          <p:cNvCxnSpPr>
            <a:cxnSpLocks/>
          </p:cNvCxnSpPr>
          <p:nvPr/>
        </p:nvCxnSpPr>
        <p:spPr>
          <a:xfrm>
            <a:off x="4895310" y="1282064"/>
            <a:ext cx="3139557" cy="1274867"/>
          </a:xfrm>
          <a:prstGeom prst="bentConnector3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E35F41A6-C58A-40C5-81D7-21A86EE54DA5}"/>
              </a:ext>
            </a:extLst>
          </p:cNvPr>
          <p:cNvCxnSpPr>
            <a:cxnSpLocks/>
          </p:cNvCxnSpPr>
          <p:nvPr/>
        </p:nvCxnSpPr>
        <p:spPr>
          <a:xfrm flipV="1">
            <a:off x="8034867" y="2456313"/>
            <a:ext cx="95257" cy="10061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204CDC59-CA76-484A-BDF5-A6902A43DA24}"/>
              </a:ext>
            </a:extLst>
          </p:cNvPr>
          <p:cNvCxnSpPr>
            <a:cxnSpLocks/>
          </p:cNvCxnSpPr>
          <p:nvPr/>
        </p:nvCxnSpPr>
        <p:spPr>
          <a:xfrm>
            <a:off x="8034867" y="2565397"/>
            <a:ext cx="97362" cy="88052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5B04E8FA-EA8B-49E5-85D1-EFB4E46B2153}"/>
              </a:ext>
            </a:extLst>
          </p:cNvPr>
          <p:cNvSpPr txBox="1"/>
          <p:nvPr/>
        </p:nvSpPr>
        <p:spPr>
          <a:xfrm flipH="1">
            <a:off x="4864604" y="1095796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1</a:t>
            </a:r>
            <a:endParaRPr lang="ko-KR" altLang="en-US" sz="800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827DF37-AB8E-4123-890F-F567BCA2B7F8}"/>
              </a:ext>
            </a:extLst>
          </p:cNvPr>
          <p:cNvSpPr txBox="1"/>
          <p:nvPr/>
        </p:nvSpPr>
        <p:spPr>
          <a:xfrm flipH="1">
            <a:off x="7887765" y="2370545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N</a:t>
            </a:r>
            <a:endParaRPr lang="ko-KR" altLang="en-US" sz="8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4409B00-437D-4D5E-9463-39E574AB914C}"/>
              </a:ext>
            </a:extLst>
          </p:cNvPr>
          <p:cNvSpPr txBox="1"/>
          <p:nvPr/>
        </p:nvSpPr>
        <p:spPr>
          <a:xfrm flipH="1">
            <a:off x="3314167" y="1862492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1</a:t>
            </a:r>
            <a:endParaRPr lang="ko-KR" altLang="en-US" sz="8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EEBC869-0971-4441-98E4-FB22BAD956BA}"/>
              </a:ext>
            </a:extLst>
          </p:cNvPr>
          <p:cNvSpPr txBox="1"/>
          <p:nvPr/>
        </p:nvSpPr>
        <p:spPr>
          <a:xfrm flipH="1">
            <a:off x="2652978" y="2189093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N</a:t>
            </a:r>
            <a:endParaRPr lang="ko-KR" altLang="en-US" sz="800" b="1" dirty="0"/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33D7F776-BD2E-4666-A91D-F4D8865884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314679"/>
              </p:ext>
            </p:extLst>
          </p:nvPr>
        </p:nvGraphicFramePr>
        <p:xfrm>
          <a:off x="506428" y="4842168"/>
          <a:ext cx="4384656" cy="1280160"/>
        </p:xfrm>
        <a:graphic>
          <a:graphicData uri="http://schemas.openxmlformats.org/drawingml/2006/table">
            <a:tbl>
              <a:tblPr firstRow="1" bandRow="1">
                <a:tableStyleId>{46F890A9-2807-4EBB-B81D-B2AA78EC7F39}</a:tableStyleId>
              </a:tblPr>
              <a:tblGrid>
                <a:gridCol w="1461552">
                  <a:extLst>
                    <a:ext uri="{9D8B030D-6E8A-4147-A177-3AD203B41FA5}">
                      <a16:colId xmlns:a16="http://schemas.microsoft.com/office/drawing/2014/main" val="2756051526"/>
                    </a:ext>
                  </a:extLst>
                </a:gridCol>
                <a:gridCol w="1461552">
                  <a:extLst>
                    <a:ext uri="{9D8B030D-6E8A-4147-A177-3AD203B41FA5}">
                      <a16:colId xmlns:a16="http://schemas.microsoft.com/office/drawing/2014/main" val="3649046412"/>
                    </a:ext>
                  </a:extLst>
                </a:gridCol>
                <a:gridCol w="1461552">
                  <a:extLst>
                    <a:ext uri="{9D8B030D-6E8A-4147-A177-3AD203B41FA5}">
                      <a16:colId xmlns:a16="http://schemas.microsoft.com/office/drawing/2014/main" val="292045944"/>
                    </a:ext>
                  </a:extLst>
                </a:gridCol>
              </a:tblGrid>
              <a:tr h="144739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COMMENT</a:t>
                      </a:r>
                      <a:endParaRPr lang="ko-KR" altLang="en-US" sz="8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0623324"/>
                  </a:ext>
                </a:extLst>
              </a:tr>
              <a:tr h="20985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 err="1"/>
                        <a:t>컬럼명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설명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0640162"/>
                  </a:ext>
                </a:extLst>
              </a:tr>
              <a:tr h="14473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COM_ID(PK, FK)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NUMBER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게시글 번호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43346301"/>
                  </a:ext>
                </a:extLst>
              </a:tr>
              <a:tr h="14473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MEM_ID(PK, FK)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VARCHAR2(50)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작성자 </a:t>
                      </a:r>
                      <a:r>
                        <a:rPr lang="en-US" altLang="ko-KR" sz="800" dirty="0"/>
                        <a:t>ID</a:t>
                      </a:r>
                      <a:endParaRPr lang="ko-KR" altLang="en-US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76276053"/>
                  </a:ext>
                </a:extLst>
              </a:tr>
              <a:tr h="14473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COMMENT_CREATED(PK)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DATE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댓글 작성일시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429227"/>
                  </a:ext>
                </a:extLst>
              </a:tr>
              <a:tr h="14473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COMMENT_CONTENT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VARCHAR2(1000)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댓글 내용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1369099"/>
                  </a:ext>
                </a:extLst>
              </a:tr>
            </a:tbl>
          </a:graphicData>
        </a:graphic>
      </p:graphicFrame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D919A32A-F8CB-404F-AE35-A5E1143751A0}"/>
              </a:ext>
            </a:extLst>
          </p:cNvPr>
          <p:cNvCxnSpPr/>
          <p:nvPr/>
        </p:nvCxnSpPr>
        <p:spPr>
          <a:xfrm>
            <a:off x="4899552" y="913474"/>
            <a:ext cx="679982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B748B9AB-FF20-495F-ACCF-22E08CE1054D}"/>
              </a:ext>
            </a:extLst>
          </p:cNvPr>
          <p:cNvCxnSpPr>
            <a:cxnSpLocks/>
          </p:cNvCxnSpPr>
          <p:nvPr/>
        </p:nvCxnSpPr>
        <p:spPr>
          <a:xfrm>
            <a:off x="5579534" y="913474"/>
            <a:ext cx="0" cy="468730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4E13562C-95DE-4722-B988-B265120AF51D}"/>
              </a:ext>
            </a:extLst>
          </p:cNvPr>
          <p:cNvCxnSpPr>
            <a:cxnSpLocks/>
          </p:cNvCxnSpPr>
          <p:nvPr/>
        </p:nvCxnSpPr>
        <p:spPr>
          <a:xfrm>
            <a:off x="5033431" y="5600778"/>
            <a:ext cx="54610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A88DD921-AB6E-4163-9769-980749D5EB90}"/>
              </a:ext>
            </a:extLst>
          </p:cNvPr>
          <p:cNvCxnSpPr>
            <a:cxnSpLocks/>
          </p:cNvCxnSpPr>
          <p:nvPr/>
        </p:nvCxnSpPr>
        <p:spPr>
          <a:xfrm flipH="1" flipV="1">
            <a:off x="4902118" y="5469465"/>
            <a:ext cx="131314" cy="13131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9C69E5A9-1EEB-4970-8377-642E20188D7D}"/>
              </a:ext>
            </a:extLst>
          </p:cNvPr>
          <p:cNvCxnSpPr>
            <a:cxnSpLocks/>
          </p:cNvCxnSpPr>
          <p:nvPr/>
        </p:nvCxnSpPr>
        <p:spPr>
          <a:xfrm flipH="1">
            <a:off x="4902117" y="5600778"/>
            <a:ext cx="131315" cy="13131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BDD08791-A8CD-471E-A431-44FCFFEAC63E}"/>
              </a:ext>
            </a:extLst>
          </p:cNvPr>
          <p:cNvSpPr txBox="1"/>
          <p:nvPr/>
        </p:nvSpPr>
        <p:spPr>
          <a:xfrm flipH="1">
            <a:off x="4839211" y="697578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1</a:t>
            </a:r>
            <a:endParaRPr lang="ko-KR" altLang="en-US" sz="800" b="1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58DA3E3-818A-4997-BF21-C4EE321CD3C2}"/>
              </a:ext>
            </a:extLst>
          </p:cNvPr>
          <p:cNvSpPr txBox="1"/>
          <p:nvPr/>
        </p:nvSpPr>
        <p:spPr>
          <a:xfrm flipH="1">
            <a:off x="4972559" y="5427400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N</a:t>
            </a:r>
            <a:endParaRPr lang="ko-KR" altLang="en-US" sz="800" b="1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974785B-F00F-4307-8325-8525E36C40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5530663"/>
              </p:ext>
            </p:extLst>
          </p:nvPr>
        </p:nvGraphicFramePr>
        <p:xfrm>
          <a:off x="5057222" y="3575907"/>
          <a:ext cx="2760097" cy="1493520"/>
        </p:xfrm>
        <a:graphic>
          <a:graphicData uri="http://schemas.openxmlformats.org/drawingml/2006/table">
            <a:tbl>
              <a:tblPr firstRow="1" bandRow="1">
                <a:tableStyleId>{46F890A9-2807-4EBB-B81D-B2AA78EC7F39}</a:tableStyleId>
              </a:tblPr>
              <a:tblGrid>
                <a:gridCol w="918619">
                  <a:extLst>
                    <a:ext uri="{9D8B030D-6E8A-4147-A177-3AD203B41FA5}">
                      <a16:colId xmlns:a16="http://schemas.microsoft.com/office/drawing/2014/main" val="36344534"/>
                    </a:ext>
                  </a:extLst>
                </a:gridCol>
                <a:gridCol w="920739">
                  <a:extLst>
                    <a:ext uri="{9D8B030D-6E8A-4147-A177-3AD203B41FA5}">
                      <a16:colId xmlns:a16="http://schemas.microsoft.com/office/drawing/2014/main" val="4014289991"/>
                    </a:ext>
                  </a:extLst>
                </a:gridCol>
                <a:gridCol w="920739">
                  <a:extLst>
                    <a:ext uri="{9D8B030D-6E8A-4147-A177-3AD203B41FA5}">
                      <a16:colId xmlns:a16="http://schemas.microsoft.com/office/drawing/2014/main" val="1738807473"/>
                    </a:ext>
                  </a:extLst>
                </a:gridCol>
              </a:tblGrid>
              <a:tr h="174403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INQUIRY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1652167"/>
                  </a:ext>
                </a:extLst>
              </a:tr>
              <a:tr h="17440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 err="1">
                          <a:latin typeface="+mj-lt"/>
                        </a:rPr>
                        <a:t>컬럼명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n-lt"/>
                        </a:rPr>
                        <a:t>타입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설명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1691168"/>
                  </a:ext>
                </a:extLst>
              </a:tr>
              <a:tr h="1744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INQ_ID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NUMBER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문의번호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77720694"/>
                  </a:ext>
                </a:extLst>
              </a:tr>
              <a:tr h="1744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MEM_ID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varchar2(50)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작성자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486375"/>
                  </a:ext>
                </a:extLst>
              </a:tr>
              <a:tr h="1744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INQ_TITLE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lt"/>
                        </a:rPr>
                        <a:t>VARCHAR2(50)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제목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6329760"/>
                  </a:ext>
                </a:extLst>
              </a:tr>
              <a:tr h="1744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INQ_CONTENT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lt"/>
                        </a:rPr>
                        <a:t>VARCHAR2(500)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문의내용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6727579"/>
                  </a:ext>
                </a:extLst>
              </a:tr>
              <a:tr h="1744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INQ_CREATED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lt"/>
                        </a:rPr>
                        <a:t>DATE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문의날짜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9639625"/>
                  </a:ext>
                </a:extLst>
              </a:tr>
            </a:tbl>
          </a:graphicData>
        </a:graphic>
      </p:graphicFrame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4E9AEB2A-B683-474F-85C2-05DCAB62CC65}"/>
              </a:ext>
            </a:extLst>
          </p:cNvPr>
          <p:cNvCxnSpPr/>
          <p:nvPr/>
        </p:nvCxnSpPr>
        <p:spPr>
          <a:xfrm>
            <a:off x="3350828" y="1901688"/>
            <a:ext cx="0" cy="363732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7951DE2C-7DE7-4ACF-88A8-C8C8BB4836A4}"/>
              </a:ext>
            </a:extLst>
          </p:cNvPr>
          <p:cNvCxnSpPr>
            <a:cxnSpLocks/>
          </p:cNvCxnSpPr>
          <p:nvPr/>
        </p:nvCxnSpPr>
        <p:spPr>
          <a:xfrm>
            <a:off x="3350828" y="2265420"/>
            <a:ext cx="3024572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C4FF1746-A7FC-4D01-A1A2-29B664A9DD7D}"/>
              </a:ext>
            </a:extLst>
          </p:cNvPr>
          <p:cNvCxnSpPr>
            <a:cxnSpLocks/>
          </p:cNvCxnSpPr>
          <p:nvPr/>
        </p:nvCxnSpPr>
        <p:spPr>
          <a:xfrm>
            <a:off x="6375400" y="2265420"/>
            <a:ext cx="0" cy="116358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648289FE-3DBA-48C3-A6F2-3C56820B9F15}"/>
              </a:ext>
            </a:extLst>
          </p:cNvPr>
          <p:cNvCxnSpPr>
            <a:cxnSpLocks/>
          </p:cNvCxnSpPr>
          <p:nvPr/>
        </p:nvCxnSpPr>
        <p:spPr>
          <a:xfrm flipH="1">
            <a:off x="6248403" y="3429000"/>
            <a:ext cx="126998" cy="11853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6873DB88-E612-4AAA-9155-F10397A57122}"/>
              </a:ext>
            </a:extLst>
          </p:cNvPr>
          <p:cNvCxnSpPr>
            <a:cxnSpLocks/>
          </p:cNvCxnSpPr>
          <p:nvPr/>
        </p:nvCxnSpPr>
        <p:spPr>
          <a:xfrm>
            <a:off x="6375400" y="3443187"/>
            <a:ext cx="166138" cy="10434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8ED57D5-C0AF-4C87-B18D-FDA738B0C35A}"/>
              </a:ext>
            </a:extLst>
          </p:cNvPr>
          <p:cNvSpPr txBox="1"/>
          <p:nvPr/>
        </p:nvSpPr>
        <p:spPr>
          <a:xfrm flipH="1">
            <a:off x="2652978" y="1878205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1</a:t>
            </a:r>
            <a:endParaRPr lang="ko-KR" altLang="en-US" sz="80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E796C65-3DF5-44BA-882D-966B6E9FCE97}"/>
              </a:ext>
            </a:extLst>
          </p:cNvPr>
          <p:cNvSpPr txBox="1"/>
          <p:nvPr/>
        </p:nvSpPr>
        <p:spPr>
          <a:xfrm flipH="1">
            <a:off x="6314570" y="3272822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N</a:t>
            </a:r>
            <a:endParaRPr lang="ko-KR" altLang="en-US" sz="800" b="1" dirty="0"/>
          </a:p>
        </p:txBody>
      </p:sp>
    </p:spTree>
    <p:extLst>
      <p:ext uri="{BB962C8B-B14F-4D97-AF65-F5344CB8AC3E}">
        <p14:creationId xmlns:p14="http://schemas.microsoft.com/office/powerpoint/2010/main" val="3690327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532</TotalTime>
  <Words>369</Words>
  <Application>Microsoft Office PowerPoint</Application>
  <PresentationFormat>와이드스크린</PresentationFormat>
  <Paragraphs>164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Administrator</dc:creator>
  <cp:lastModifiedBy>Administrator</cp:lastModifiedBy>
  <cp:revision>63</cp:revision>
  <dcterms:created xsi:type="dcterms:W3CDTF">2026-05-13T07:30:45Z</dcterms:created>
  <dcterms:modified xsi:type="dcterms:W3CDTF">2026-05-21T01:19:38Z</dcterms:modified>
</cp:coreProperties>
</file>