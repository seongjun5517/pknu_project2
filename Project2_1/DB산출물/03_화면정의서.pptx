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62" r:id="rId5"/>
    <p:sldId id="259" r:id="rId6"/>
    <p:sldId id="269" r:id="rId7"/>
    <p:sldId id="260" r:id="rId8"/>
    <p:sldId id="261" r:id="rId9"/>
    <p:sldId id="264" r:id="rId10"/>
    <p:sldId id="265" r:id="rId11"/>
    <p:sldId id="266" r:id="rId12"/>
    <p:sldId id="267" r:id="rId13"/>
    <p:sldId id="268" r:id="rId14"/>
  </p:sldIdLst>
  <p:sldSz cx="6858000" cy="9906000" type="A4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120">
          <p15:clr>
            <a:srgbClr val="000000"/>
          </p15:clr>
        </p15:guide>
        <p15:guide id="2" pos="2160">
          <p15:clr>
            <a:srgbClr val="000000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000000"/>
          </p15:clr>
        </p15:guide>
        <p15:guide id="2" pos="2160">
          <p15:clr>
            <a:srgbClr val="000000"/>
          </p15:clr>
        </p15:guide>
      </p15:notes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6" roundtripDataSignature="AMtx7mgy5G5xksiDDRQ/wFPYJjQYjIaU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A28E38-3AA5-4339-A1BF-AE6ADF5D02B0}">
  <a:tblStyle styleId="{69A28E38-3AA5-4339-A1BF-AE6ADF5D02B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444" autoAdjust="0"/>
  </p:normalViewPr>
  <p:slideViewPr>
    <p:cSldViewPr snapToGrid="0">
      <p:cViewPr varScale="1">
        <p:scale>
          <a:sx n="75" d="100"/>
          <a:sy n="75" d="100"/>
        </p:scale>
        <p:origin x="3174" y="60"/>
      </p:cViewPr>
      <p:guideLst>
        <p:guide orient="horz" pos="312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customschemas.google.com/relationships/presentationmetadata" Target="meta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2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sldNum" idx="12"/>
          </p:nvPr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Gulim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1</a:t>
            </a:fld>
            <a:endParaRPr/>
          </a:p>
        </p:txBody>
      </p:sp>
      <p:sp>
        <p:nvSpPr>
          <p:cNvPr id="48" name="Google Shape;4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" name="Google Shape;49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2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3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126002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4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82316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5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143363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6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17665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7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881508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8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39073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9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97467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10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91218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11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36650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12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47019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13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66996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4"/>
          <p:cNvSpPr txBox="1">
            <a:spLocks noGrp="1"/>
          </p:cNvSpPr>
          <p:nvPr>
            <p:ph type="ctrTitle"/>
          </p:nvPr>
        </p:nvSpPr>
        <p:spPr>
          <a:xfrm>
            <a:off x="514350" y="3076575"/>
            <a:ext cx="5829300" cy="2124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9pPr>
          </a:lstStyle>
          <a:p>
            <a:endParaRPr/>
          </a:p>
        </p:txBody>
      </p:sp>
      <p:sp>
        <p:nvSpPr>
          <p:cNvPr id="12" name="Google Shape;12;p4"/>
          <p:cNvSpPr txBox="1">
            <a:spLocks noGrp="1"/>
          </p:cNvSpPr>
          <p:nvPr>
            <p:ph type="subTitle" idx="1"/>
          </p:nvPr>
        </p:nvSpPr>
        <p:spPr>
          <a:xfrm>
            <a:off x="1028700" y="5613400"/>
            <a:ext cx="4800600" cy="2532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ulim"/>
              <a:buNone/>
              <a:defRPr sz="32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ctr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ulim"/>
              <a:buNone/>
              <a:defRPr sz="2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ctr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None/>
              <a:defRPr sz="2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ctr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ctr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ctr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ctr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ctr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ctr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5"/>
          <p:cNvSpPr txBox="1">
            <a:spLocks noGrp="1"/>
          </p:cNvSpPr>
          <p:nvPr>
            <p:ph type="title"/>
          </p:nvPr>
        </p:nvSpPr>
        <p:spPr>
          <a:xfrm rot="5400000">
            <a:off x="1517650" y="3851275"/>
            <a:ext cx="8451850" cy="1543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body" idx="1"/>
          </p:nvPr>
        </p:nvSpPr>
        <p:spPr>
          <a:xfrm rot="5400000">
            <a:off x="-1644650" y="2384425"/>
            <a:ext cx="8451850" cy="447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ulim"/>
              <a:buChar char="•"/>
              <a:defRPr sz="32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ulim"/>
              <a:buChar char="–"/>
              <a:defRPr sz="2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Char char="•"/>
              <a:defRPr sz="2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–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6"/>
          <p:cNvSpPr txBox="1">
            <a:spLocks noGrp="1"/>
          </p:cNvSpPr>
          <p:nvPr>
            <p:ph type="title"/>
          </p:nvPr>
        </p:nvSpPr>
        <p:spPr>
          <a:xfrm>
            <a:off x="342900" y="396875"/>
            <a:ext cx="6172200" cy="16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9pPr>
          </a:lstStyle>
          <a:p>
            <a:endParaRPr/>
          </a:p>
        </p:txBody>
      </p:sp>
      <p:sp>
        <p:nvSpPr>
          <p:cNvPr id="18" name="Google Shape;18;p6"/>
          <p:cNvSpPr txBox="1">
            <a:spLocks noGrp="1"/>
          </p:cNvSpPr>
          <p:nvPr>
            <p:ph type="body" idx="1"/>
          </p:nvPr>
        </p:nvSpPr>
        <p:spPr>
          <a:xfrm rot="5400000">
            <a:off x="160338" y="2493963"/>
            <a:ext cx="6537325" cy="61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ulim"/>
              <a:buChar char="•"/>
              <a:defRPr sz="32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ulim"/>
              <a:buChar char="–"/>
              <a:defRPr sz="2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Char char="•"/>
              <a:defRPr sz="2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–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7"/>
          <p:cNvSpPr txBox="1">
            <a:spLocks noGrp="1"/>
          </p:cNvSpPr>
          <p:nvPr>
            <p:ph type="title"/>
          </p:nvPr>
        </p:nvSpPr>
        <p:spPr>
          <a:xfrm>
            <a:off x="1344613" y="6934200"/>
            <a:ext cx="4114800" cy="81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9pPr>
          </a:lstStyle>
          <a:p>
            <a:endParaRPr/>
          </a:p>
        </p:txBody>
      </p:sp>
      <p:sp>
        <p:nvSpPr>
          <p:cNvPr id="21" name="Google Shape;21;p7"/>
          <p:cNvSpPr>
            <a:spLocks noGrp="1"/>
          </p:cNvSpPr>
          <p:nvPr>
            <p:ph type="pic" idx="2"/>
          </p:nvPr>
        </p:nvSpPr>
        <p:spPr>
          <a:xfrm>
            <a:off x="1344613" y="885825"/>
            <a:ext cx="4114800" cy="5943600"/>
          </a:xfrm>
          <a:prstGeom prst="rect">
            <a:avLst/>
          </a:prstGeom>
          <a:noFill/>
          <a:ln>
            <a:noFill/>
          </a:ln>
        </p:spPr>
      </p:sp>
      <p:sp>
        <p:nvSpPr>
          <p:cNvPr id="22" name="Google Shape;22;p7"/>
          <p:cNvSpPr txBox="1">
            <a:spLocks noGrp="1"/>
          </p:cNvSpPr>
          <p:nvPr>
            <p:ph type="body" idx="1"/>
          </p:nvPr>
        </p:nvSpPr>
        <p:spPr>
          <a:xfrm>
            <a:off x="1344613" y="7753350"/>
            <a:ext cx="4114800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lim"/>
              <a:buNone/>
              <a:defRPr sz="12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2286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8"/>
          <p:cNvSpPr txBox="1">
            <a:spLocks noGrp="1"/>
          </p:cNvSpPr>
          <p:nvPr>
            <p:ph type="title"/>
          </p:nvPr>
        </p:nvSpPr>
        <p:spPr>
          <a:xfrm>
            <a:off x="342900" y="393700"/>
            <a:ext cx="2255838" cy="167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9pPr>
          </a:lstStyle>
          <a:p>
            <a:endParaRPr/>
          </a:p>
        </p:txBody>
      </p:sp>
      <p:sp>
        <p:nvSpPr>
          <p:cNvPr id="25" name="Google Shape;25;p8"/>
          <p:cNvSpPr txBox="1">
            <a:spLocks noGrp="1"/>
          </p:cNvSpPr>
          <p:nvPr>
            <p:ph type="body" idx="1"/>
          </p:nvPr>
        </p:nvSpPr>
        <p:spPr>
          <a:xfrm>
            <a:off x="2681288" y="393700"/>
            <a:ext cx="3833812" cy="8455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ulim"/>
              <a:buChar char="•"/>
              <a:defRPr sz="32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ulim"/>
              <a:buChar char="–"/>
              <a:defRPr sz="2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Char char="•"/>
              <a:defRPr sz="2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–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26" name="Google Shape;26;p8"/>
          <p:cNvSpPr txBox="1">
            <a:spLocks noGrp="1"/>
          </p:cNvSpPr>
          <p:nvPr>
            <p:ph type="body" idx="2"/>
          </p:nvPr>
        </p:nvSpPr>
        <p:spPr>
          <a:xfrm>
            <a:off x="342900" y="2073275"/>
            <a:ext cx="2255838" cy="6775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lim"/>
              <a:buNone/>
              <a:defRPr sz="12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2286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0"/>
          <p:cNvSpPr txBox="1">
            <a:spLocks noGrp="1"/>
          </p:cNvSpPr>
          <p:nvPr>
            <p:ph type="title"/>
          </p:nvPr>
        </p:nvSpPr>
        <p:spPr>
          <a:xfrm>
            <a:off x="342900" y="396875"/>
            <a:ext cx="6172200" cy="16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1"/>
          <p:cNvSpPr txBox="1">
            <a:spLocks noGrp="1"/>
          </p:cNvSpPr>
          <p:nvPr>
            <p:ph type="title"/>
          </p:nvPr>
        </p:nvSpPr>
        <p:spPr>
          <a:xfrm>
            <a:off x="342900" y="396875"/>
            <a:ext cx="6172200" cy="16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9pPr>
          </a:lstStyle>
          <a:p>
            <a:endParaRPr/>
          </a:p>
        </p:txBody>
      </p:sp>
      <p:sp>
        <p:nvSpPr>
          <p:cNvPr id="32" name="Google Shape;32;p11"/>
          <p:cNvSpPr txBox="1">
            <a:spLocks noGrp="1"/>
          </p:cNvSpPr>
          <p:nvPr>
            <p:ph type="body" idx="1"/>
          </p:nvPr>
        </p:nvSpPr>
        <p:spPr>
          <a:xfrm>
            <a:off x="342900" y="2217738"/>
            <a:ext cx="3030538" cy="923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None/>
              <a:defRPr sz="24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33" name="Google Shape;33;p11"/>
          <p:cNvSpPr txBox="1">
            <a:spLocks noGrp="1"/>
          </p:cNvSpPr>
          <p:nvPr>
            <p:ph type="body" idx="2"/>
          </p:nvPr>
        </p:nvSpPr>
        <p:spPr>
          <a:xfrm>
            <a:off x="342900" y="3141663"/>
            <a:ext cx="3030538" cy="57070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Char char="•"/>
              <a:defRPr sz="2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–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–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34" name="Google Shape;34;p11"/>
          <p:cNvSpPr txBox="1">
            <a:spLocks noGrp="1"/>
          </p:cNvSpPr>
          <p:nvPr>
            <p:ph type="body" idx="3"/>
          </p:nvPr>
        </p:nvSpPr>
        <p:spPr>
          <a:xfrm>
            <a:off x="3484563" y="2217738"/>
            <a:ext cx="3030537" cy="923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None/>
              <a:defRPr sz="24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35" name="Google Shape;35;p11"/>
          <p:cNvSpPr txBox="1">
            <a:spLocks noGrp="1"/>
          </p:cNvSpPr>
          <p:nvPr>
            <p:ph type="body" idx="4"/>
          </p:nvPr>
        </p:nvSpPr>
        <p:spPr>
          <a:xfrm>
            <a:off x="3484563" y="3141663"/>
            <a:ext cx="3030537" cy="57070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Char char="•"/>
              <a:defRPr sz="2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–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–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2"/>
          <p:cNvSpPr txBox="1">
            <a:spLocks noGrp="1"/>
          </p:cNvSpPr>
          <p:nvPr>
            <p:ph type="title"/>
          </p:nvPr>
        </p:nvSpPr>
        <p:spPr>
          <a:xfrm>
            <a:off x="342900" y="396875"/>
            <a:ext cx="6172200" cy="16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body" idx="1"/>
          </p:nvPr>
        </p:nvSpPr>
        <p:spPr>
          <a:xfrm>
            <a:off x="342900" y="2311400"/>
            <a:ext cx="3009900" cy="6537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ulim"/>
              <a:buChar char="•"/>
              <a:defRPr sz="2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Char char="–"/>
              <a:defRPr sz="2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•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–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body" idx="2"/>
          </p:nvPr>
        </p:nvSpPr>
        <p:spPr>
          <a:xfrm>
            <a:off x="3505200" y="2311400"/>
            <a:ext cx="3009900" cy="6537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ulim"/>
              <a:buChar char="•"/>
              <a:defRPr sz="2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Char char="–"/>
              <a:defRPr sz="2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•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–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title"/>
          </p:nvPr>
        </p:nvSpPr>
        <p:spPr>
          <a:xfrm>
            <a:off x="541338" y="6365875"/>
            <a:ext cx="5829300" cy="1966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body" idx="1"/>
          </p:nvPr>
        </p:nvSpPr>
        <p:spPr>
          <a:xfrm>
            <a:off x="541338" y="4198938"/>
            <a:ext cx="5829300" cy="2166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4"/>
          <p:cNvSpPr txBox="1">
            <a:spLocks noGrp="1"/>
          </p:cNvSpPr>
          <p:nvPr>
            <p:ph type="title"/>
          </p:nvPr>
        </p:nvSpPr>
        <p:spPr>
          <a:xfrm>
            <a:off x="342900" y="396875"/>
            <a:ext cx="6172200" cy="16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9pPr>
          </a:lstStyle>
          <a:p>
            <a:endParaRPr/>
          </a:p>
        </p:txBody>
      </p:sp>
      <p:sp>
        <p:nvSpPr>
          <p:cNvPr id="45" name="Google Shape;45;p14"/>
          <p:cNvSpPr txBox="1">
            <a:spLocks noGrp="1"/>
          </p:cNvSpPr>
          <p:nvPr>
            <p:ph type="body" idx="1"/>
          </p:nvPr>
        </p:nvSpPr>
        <p:spPr>
          <a:xfrm>
            <a:off x="342900" y="2311400"/>
            <a:ext cx="6172200" cy="6537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ulim"/>
              <a:buChar char="•"/>
              <a:defRPr sz="32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ulim"/>
              <a:buChar char="–"/>
              <a:defRPr sz="2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Char char="•"/>
              <a:defRPr sz="2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–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3"/>
          <p:cNvSpPr txBox="1"/>
          <p:nvPr/>
        </p:nvSpPr>
        <p:spPr>
          <a:xfrm>
            <a:off x="404812" y="342900"/>
            <a:ext cx="61753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che"/>
              <a:buNone/>
            </a:pPr>
            <a:r>
              <a:rPr lang="en-US" sz="900" b="0" i="0" u="none" strike="noStrike" cap="none">
                <a:solidFill>
                  <a:schemeClr val="dk1"/>
                </a:solidFill>
                <a:latin typeface="Gulimche"/>
                <a:ea typeface="Gulimche"/>
                <a:cs typeface="Gulimche"/>
                <a:sym typeface="Gulimche"/>
              </a:rPr>
              <a:t>화면정의서</a:t>
            </a: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1" name="Google Shape;51;p1"/>
          <p:cNvGraphicFramePr/>
          <p:nvPr>
            <p:extLst>
              <p:ext uri="{D42A27DB-BD31-4B8C-83A1-F6EECF244321}">
                <p14:modId xmlns:p14="http://schemas.microsoft.com/office/powerpoint/2010/main" val="596308024"/>
              </p:ext>
            </p:extLst>
          </p:nvPr>
        </p:nvGraphicFramePr>
        <p:xfrm>
          <a:off x="323075" y="105947"/>
          <a:ext cx="6153925" cy="9459499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7674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0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85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58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23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255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2000" b="1" i="0" u="none" strike="noStrike" cap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 sz="2000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939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메인 서비스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595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메인 화면 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strike="noStrike" cap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sym typeface="Gulimche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74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메인 홈 화면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strike="noStrike" cap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</a:t>
                      </a:r>
                      <a:r>
                        <a:rPr lang="en-US" sz="1000" b="0" i="0" u="none" strike="noStrike" cap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 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MAIN_HOME_PAGE</a:t>
                      </a: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48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사용자의 건강 분석 정보와 커뮤니티 인기 글을 제공하는 메인 화면입니다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29179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9139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1.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심근경색 예측 그래프 조회</a:t>
                      </a:r>
                    </a:p>
                    <a:p>
                      <a:pPr marL="0" lvl="2" indent="0"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최근 분석 데이터를 그래프로 표시한다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2"/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 err="1">
                          <a:latin typeface="+mj-ea"/>
                          <a:ea typeface="+mj-ea"/>
                        </a:rPr>
                        <a:t>날짜별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위험도 변화를 확인할 수 있다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2"/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건강 정보 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슬라이드 심혈관 질환 관련 건강 정보를 슬라이드 형태로 제공한다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이전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/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다음 버튼 클릭 시 이미지가 변경된다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일정 시간이 지나면 정보와 이미지가 변경된다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3.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커뮤니티 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인기 글 조회 좋아요 수 기준 인기 게시글을 조회한다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클릭 시 상세 페이지로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4.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분석 시작 기능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분석 시작하기 버튼 클릭 시 건강 분석 페이지로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5.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ko-KR" altLang="en-US" sz="1000" dirty="0" err="1">
                          <a:latin typeface="+mj-ea"/>
                          <a:ea typeface="+mj-ea"/>
                        </a:rPr>
                        <a:t>더보기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기능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커뮤니티 인기 글  </a:t>
                      </a:r>
                      <a:r>
                        <a:rPr lang="ko-KR" altLang="en-US" sz="1000" dirty="0" err="1">
                          <a:latin typeface="+mj-ea"/>
                          <a:ea typeface="+mj-ea"/>
                        </a:rPr>
                        <a:t>더보기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클릭 시 전체 게시글 페이지로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6.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기능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로그인을 해야 메뉴에 들어갈 수 있다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ko-KR" altLang="en-US" sz="1000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BBC0BD75-409F-44BA-8A29-66512C64CA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1841500"/>
            <a:ext cx="5467350" cy="405129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451826466"/>
              </p:ext>
            </p:extLst>
          </p:nvPr>
        </p:nvGraphicFramePr>
        <p:xfrm>
          <a:off x="457200" y="344487"/>
          <a:ext cx="6059450" cy="8958225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8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7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2275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3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 인증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68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회원관리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4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구글 로그인 화면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LOGIN_PAGE</a:t>
                      </a: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사용자가 구글 계정을 통해 로그인 및 회원가입을 진행하는 화면입니다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7205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1. Google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계정 로그인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사용자는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Google OAuth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인증을 통해 로그인할 수 있다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최초 로그인 시 자동 회원가입 처리된다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메인 메뉴 이동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상단 메뉴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(Home,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분석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커뮤니티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마이페이지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)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클릭 시 각 페이지로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marL="0" indent="0">
                        <a:buNone/>
                      </a:pP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3.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상태 처리로그인 성공 시 사용자 정보가 저장된다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후 메인 페이지로 자동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4.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비로그인 접근 제한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작성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마이페이지 등은 로그인 사용자만 접근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ko-KR" altLang="en-US" sz="1000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BEEDD0CE-AEB3-49B0-A1CC-83C605A176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" y="2236004"/>
            <a:ext cx="5778500" cy="431719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3102553300"/>
              </p:ext>
            </p:extLst>
          </p:nvPr>
        </p:nvGraphicFramePr>
        <p:xfrm>
          <a:off x="266701" y="152400"/>
          <a:ext cx="6407149" cy="9454737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10205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852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58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23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5577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96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분석결과 화면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111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심근경색예측관리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6648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심근경색 분석 결과 화면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59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사용자의 건강 데이터를 기반으로 심근경색 발생 위험도를 분석하여 제공하는 화면이다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1491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4634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1.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심근경색 발생 확률 표시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예측 모델 결과를 퍼센트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(%)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형태로 출력한다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위험도 수준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(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낮음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/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보통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/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높음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)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을 함께 표시한다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분석 추이 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그래프 날짜 별 분석 결과를 선 그래프로 출력한다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그래프 점 클릭 시 해당 날짜 상세 데이터 조회 가능하다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3.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건강 기준표 제공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혈당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콜레스테롤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, BMI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등 정상 범위를 표로 제공한다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4. Raw Data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조회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사용자의 검사 데이터를 표 형태로 출력한다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건강 수치 및 측정값 확인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5.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결과 해석 기능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AI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분석 결과를 기반으로 건강 상태 해석 문구를 제공한다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예측하기 기능버튼 클릭 시 새로운 건강 분석을 수행한다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ko-KR" altLang="en-US" sz="1000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7984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936692392"/>
              </p:ext>
            </p:extLst>
          </p:nvPr>
        </p:nvGraphicFramePr>
        <p:xfrm>
          <a:off x="209550" y="63500"/>
          <a:ext cx="6438900" cy="9685779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10256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10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22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799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1581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 dirty="0" err="1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화면정의서</a:t>
                      </a:r>
                      <a:endParaRPr dirty="0"/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46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업무명</a:t>
                      </a:r>
                      <a:endParaRPr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dirty="0"/>
                        <a:t>건강분석</a:t>
                      </a:r>
                      <a:endParaRPr lang="ko-KR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작성일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2026.05.22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42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업무대기능명</a:t>
                      </a:r>
                      <a:endParaRPr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dirty="0"/>
                        <a:t>심근경색예측관리</a:t>
                      </a:r>
                      <a:endParaRPr lang="ko-KR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작성자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곽민재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209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화면명</a:t>
                      </a:r>
                      <a:endParaRPr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dirty="0"/>
                        <a:t>심근경색 발생 확률 구하기</a:t>
                      </a:r>
                      <a:endParaRPr lang="ko-KR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화면ID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HEART_PREDICT_INPUT_PAGE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502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화면설명</a:t>
                      </a:r>
                      <a:endParaRPr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사용자의 건강 정보와 생활 습관 데이터를 입력 받아 심근경색 발생 확률을 </a:t>
                      </a:r>
                      <a:endParaRPr lang="en-US" altLang="ko-KR" sz="1000" dirty="0"/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예측하는 화면이다</a:t>
                      </a:r>
                      <a:endParaRPr lang="ko-KR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6854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4622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Gulimche"/>
                        <a:ea typeface="Gulimche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/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1. </a:t>
                      </a:r>
                      <a:r>
                        <a:rPr lang="ko-KR" altLang="en-US" sz="1000" dirty="0"/>
                        <a:t>질환 여부 입력 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고혈압 의사진단 여부 선택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</a:t>
                      </a:r>
                      <a:r>
                        <a:rPr lang="en-US" altLang="ko-KR" sz="1000" dirty="0"/>
                        <a:t> </a:t>
                      </a:r>
                      <a:r>
                        <a:rPr lang="ko-KR" altLang="en-US" sz="1000" dirty="0" err="1"/>
                        <a:t>이상지질혈증</a:t>
                      </a:r>
                      <a:r>
                        <a:rPr lang="ko-KR" altLang="en-US" sz="1000" dirty="0"/>
                        <a:t> 의사진단 여부 선택</a:t>
                      </a:r>
                      <a:r>
                        <a:rPr lang="en-US" altLang="ko-KR" sz="1000" dirty="0"/>
                        <a:t>,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당뇨병 의사진단 여부 선택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</a:t>
                      </a:r>
                      <a:r>
                        <a:rPr lang="en-US" altLang="ko-KR" sz="1000" dirty="0"/>
                        <a:t> </a:t>
                      </a:r>
                      <a:r>
                        <a:rPr lang="ko-KR" altLang="en-US" sz="1000" dirty="0"/>
                        <a:t>뇌졸중 의사진단 여부 선택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2. </a:t>
                      </a:r>
                      <a:r>
                        <a:rPr lang="ko-KR" altLang="en-US" sz="1000" dirty="0"/>
                        <a:t>건강 수치 입력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</a:t>
                      </a:r>
                      <a:r>
                        <a:rPr lang="en-US" altLang="ko-KR" sz="1000" dirty="0"/>
                        <a:t> </a:t>
                      </a:r>
                      <a:r>
                        <a:rPr lang="ko-KR" altLang="en-US" sz="1000" dirty="0"/>
                        <a:t>공복 혈당 입력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</a:t>
                      </a:r>
                      <a:r>
                        <a:rPr lang="en-US" altLang="ko-KR" sz="1000" dirty="0"/>
                        <a:t> </a:t>
                      </a:r>
                      <a:r>
                        <a:rPr lang="ko-KR" altLang="en-US" sz="1000" dirty="0"/>
                        <a:t>당화혈색소 입력 </a:t>
                      </a:r>
                      <a:r>
                        <a:rPr lang="en-US" altLang="ko-KR" sz="1000" dirty="0"/>
                        <a:t>,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총콜레스테롤 입력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</a:t>
                      </a:r>
                      <a:r>
                        <a:rPr lang="en-US" altLang="ko-KR" sz="1000" dirty="0"/>
                        <a:t> </a:t>
                      </a:r>
                      <a:r>
                        <a:rPr lang="ko-KR" altLang="en-US" sz="1000" dirty="0"/>
                        <a:t>체질량지수</a:t>
                      </a:r>
                      <a:r>
                        <a:rPr lang="en-US" altLang="ko-KR" sz="1000" dirty="0"/>
                        <a:t>(BMI) </a:t>
                      </a:r>
                      <a:r>
                        <a:rPr lang="ko-KR" altLang="en-US" sz="1000" dirty="0"/>
                        <a:t>입력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</a:t>
                      </a:r>
                      <a:r>
                        <a:rPr lang="en-US" altLang="ko-KR" sz="1000" dirty="0"/>
                        <a:t> </a:t>
                      </a:r>
                      <a:r>
                        <a:rPr lang="ko-KR" altLang="en-US" sz="1000" dirty="0"/>
                        <a:t>허리둘레 입력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3. </a:t>
                      </a:r>
                      <a:r>
                        <a:rPr lang="ko-KR" altLang="en-US" sz="1000" dirty="0"/>
                        <a:t>생활 습관 입력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흡연 여부 선택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음주 빈도 선택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음주량 선택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앉아서 보내는 시간 입력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유산소 신체 활동 여부 선택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4. </a:t>
                      </a:r>
                      <a:r>
                        <a:rPr lang="ko-KR" altLang="en-US" sz="1000" dirty="0"/>
                        <a:t>사용자 정보 입력</a:t>
                      </a:r>
                      <a:r>
                        <a:rPr lang="en-US" altLang="ko-KR" sz="1000" dirty="0"/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성별 선택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나이 입력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최종 학력 선택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소득 분위 수 선택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5. </a:t>
                      </a:r>
                      <a:r>
                        <a:rPr lang="ko-KR" altLang="en-US" sz="1000" dirty="0"/>
                        <a:t>고혈압 유형 선택</a:t>
                      </a:r>
                      <a:r>
                        <a:rPr lang="en-US" altLang="ko-KR" sz="1000" dirty="0"/>
                        <a:t>,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 정상 주의혈압 </a:t>
                      </a:r>
                      <a:r>
                        <a:rPr lang="en-US" altLang="ko-KR" sz="1000" dirty="0"/>
                        <a:t>13 </a:t>
                      </a:r>
                      <a:r>
                        <a:rPr lang="ko-KR" altLang="en-US" sz="1000" dirty="0"/>
                        <a:t>고혈압전단계 </a:t>
                      </a:r>
                      <a:r>
                        <a:rPr lang="en-US" altLang="ko-KR" sz="1000" dirty="0"/>
                        <a:t>27. 28. 29. 30. 31. 32. 33. 34. 35. 36. </a:t>
                      </a:r>
                      <a:r>
                        <a:rPr lang="ko-KR" altLang="en-US" sz="1000" dirty="0"/>
                        <a:t>고혈압 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6. </a:t>
                      </a:r>
                      <a:r>
                        <a:rPr lang="ko-KR" altLang="en-US" sz="1000" dirty="0"/>
                        <a:t>예측하기 기능 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입력 데이터 기반 심근경색 발생 확률 예측 수행한다</a:t>
                      </a:r>
                      <a:r>
                        <a:rPr lang="en-US" altLang="ko-KR" sz="1000" dirty="0"/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7. </a:t>
                      </a:r>
                      <a:r>
                        <a:rPr lang="ko-KR" altLang="en-US" sz="1000" dirty="0" err="1"/>
                        <a:t>입력값</a:t>
                      </a:r>
                      <a:r>
                        <a:rPr lang="ko-KR" altLang="en-US" sz="1000" dirty="0"/>
                        <a:t> 검증 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숫자 입력 항목 유효성 검사 수행한다</a:t>
                      </a:r>
                      <a:r>
                        <a:rPr lang="en-US" altLang="ko-KR" sz="1000" dirty="0"/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필수 </a:t>
                      </a:r>
                      <a:r>
                        <a:rPr lang="ko-KR" altLang="en-US" sz="1000" dirty="0" err="1"/>
                        <a:t>입력값</a:t>
                      </a:r>
                      <a:r>
                        <a:rPr lang="ko-KR" altLang="en-US" sz="1000" dirty="0"/>
                        <a:t> </a:t>
                      </a:r>
                      <a:r>
                        <a:rPr lang="ko-KR" altLang="en-US" sz="1000" dirty="0" err="1"/>
                        <a:t>미입력</a:t>
                      </a:r>
                      <a:r>
                        <a:rPr lang="ko-KR" altLang="en-US" sz="1000" dirty="0"/>
                        <a:t> 시 예측 제한한다</a:t>
                      </a:r>
                      <a:r>
                        <a:rPr lang="en-US" altLang="ko-KR" sz="1000" dirty="0"/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8. </a:t>
                      </a:r>
                      <a:r>
                        <a:rPr lang="ko-KR" altLang="en-US" sz="1000" dirty="0"/>
                        <a:t>분석 결과 저장 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예측 결과 및 입력 데이터를 </a:t>
                      </a:r>
                      <a:r>
                        <a:rPr lang="en-US" altLang="ko-KR" sz="1000" dirty="0"/>
                        <a:t>DB</a:t>
                      </a:r>
                      <a:r>
                        <a:rPr lang="ko-KR" altLang="en-US" sz="1000" dirty="0"/>
                        <a:t>에 저장한다</a:t>
                      </a:r>
                      <a:r>
                        <a:rPr lang="en-US" altLang="ko-KR" sz="1000" dirty="0"/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사용자 분석 기록에 자동 등록된다</a:t>
                      </a:r>
                      <a:r>
                        <a:rPr lang="en-US" altLang="ko-KR" sz="1000" dirty="0"/>
                        <a:t>.</a:t>
                      </a:r>
                      <a:endParaRPr lang="ko-KR" altLang="en-US" sz="1000" dirty="0"/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5796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1936846885"/>
              </p:ext>
            </p:extLst>
          </p:nvPr>
        </p:nvGraphicFramePr>
        <p:xfrm>
          <a:off x="488175" y="405276"/>
          <a:ext cx="6059450" cy="9095448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8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7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6786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 dirty="0" err="1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화면정의서</a:t>
                      </a:r>
                      <a:endParaRPr dirty="0"/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06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업무명</a:t>
                      </a:r>
                      <a:endParaRPr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커뮤니티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작성일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2026.05.22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06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업무대기능명</a:t>
                      </a:r>
                      <a:endParaRPr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게시판관리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작성자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곽민재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06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화면명</a:t>
                      </a:r>
                      <a:endParaRPr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커뮤니티 게시글 목록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화면ID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COMMUNITY_LIST_PAGE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213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화면설명</a:t>
                      </a:r>
                      <a:endParaRPr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사용자가 게시글을 조회하고 검색 및 정렬할 수 있는 커뮤니티 메인 화면이다</a:t>
                      </a:r>
                      <a:r>
                        <a:rPr lang="en-US" altLang="ko-KR" sz="1000" dirty="0"/>
                        <a:t>.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38735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595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Gulimche"/>
                        <a:ea typeface="Gulimche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/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en-US" altLang="ko-KR" sz="800" dirty="0"/>
                        <a:t>1. </a:t>
                      </a:r>
                      <a:r>
                        <a:rPr lang="ko-KR" altLang="en-US" sz="800" dirty="0"/>
                        <a:t>카테고리별 조회</a:t>
                      </a:r>
                      <a:endParaRPr lang="en-US" altLang="ko-KR" sz="800" dirty="0"/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건강 정보</a:t>
                      </a:r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식단 이야기</a:t>
                      </a:r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운동 공유</a:t>
                      </a:r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자유 게시판</a:t>
                      </a:r>
                      <a:endParaRPr lang="en-US" altLang="ko-KR" sz="800" dirty="0"/>
                    </a:p>
                    <a:p>
                      <a:endParaRPr lang="ko-KR" altLang="en-US" sz="800" dirty="0"/>
                    </a:p>
                    <a:p>
                      <a:r>
                        <a:rPr lang="en-US" altLang="ko-KR" sz="800" dirty="0"/>
                        <a:t>2. </a:t>
                      </a:r>
                      <a:r>
                        <a:rPr lang="ko-KR" altLang="en-US" sz="800" dirty="0"/>
                        <a:t>게시글 검색</a:t>
                      </a:r>
                      <a:endParaRPr lang="en-US" altLang="ko-KR" sz="800" dirty="0"/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제목 및 작성자 기준 검색 가능하다</a:t>
                      </a:r>
                      <a:r>
                        <a:rPr lang="en-US" altLang="ko-KR" sz="800" dirty="0"/>
                        <a:t>.</a:t>
                      </a:r>
                    </a:p>
                    <a:p>
                      <a:endParaRPr lang="en-US" altLang="ko-KR" sz="800" dirty="0"/>
                    </a:p>
                    <a:p>
                      <a:r>
                        <a:rPr lang="en-US" altLang="ko-KR" sz="800" dirty="0"/>
                        <a:t>3. </a:t>
                      </a:r>
                      <a:r>
                        <a:rPr lang="ko-KR" altLang="en-US" sz="800" dirty="0"/>
                        <a:t>정렬 기능</a:t>
                      </a:r>
                      <a:endParaRPr lang="en-US" altLang="ko-KR" sz="800" dirty="0"/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최신 순 정렬</a:t>
                      </a:r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좋아요 순 정렬</a:t>
                      </a:r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조회수순 정렬</a:t>
                      </a:r>
                      <a:endParaRPr lang="en-US" altLang="ko-KR" sz="800" dirty="0"/>
                    </a:p>
                    <a:p>
                      <a:endParaRPr lang="ko-KR" altLang="en-US" sz="800" dirty="0"/>
                    </a:p>
                    <a:p>
                      <a:r>
                        <a:rPr lang="en-US" altLang="ko-KR" sz="800" dirty="0"/>
                        <a:t>4. </a:t>
                      </a:r>
                      <a:r>
                        <a:rPr lang="ko-KR" altLang="en-US" sz="800" dirty="0"/>
                        <a:t>게시글 상세조회</a:t>
                      </a:r>
                      <a:endParaRPr lang="en-US" altLang="ko-KR" sz="800" dirty="0"/>
                    </a:p>
                    <a:p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게시글 클릭 시 상세 페이지로 이동한다</a:t>
                      </a:r>
                      <a:r>
                        <a:rPr lang="en-US" altLang="ko-KR" sz="800" dirty="0"/>
                        <a:t>.</a:t>
                      </a:r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게시글 작성</a:t>
                      </a:r>
                      <a:endParaRPr lang="en-US" altLang="ko-KR" sz="800" dirty="0"/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로그인 사용자만 작성 가능하다</a:t>
                      </a:r>
                      <a:r>
                        <a:rPr lang="en-US" altLang="ko-KR" sz="800" dirty="0"/>
                        <a:t>.</a:t>
                      </a:r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글 작성 버튼 클릭 시 게시글 작성 페이지로 이동한다</a:t>
                      </a:r>
                      <a:r>
                        <a:rPr lang="en-US" altLang="ko-KR" sz="800" dirty="0"/>
                        <a:t>.</a:t>
                      </a:r>
                    </a:p>
                    <a:p>
                      <a:endParaRPr lang="en-US" altLang="ko-KR" sz="800" dirty="0"/>
                    </a:p>
                    <a:p>
                      <a:r>
                        <a:rPr lang="en-US" altLang="ko-KR" sz="800" dirty="0"/>
                        <a:t>5. </a:t>
                      </a:r>
                      <a:r>
                        <a:rPr lang="ko-KR" altLang="en-US" sz="800" dirty="0" err="1"/>
                        <a:t>페이징</a:t>
                      </a:r>
                      <a:r>
                        <a:rPr lang="ko-KR" altLang="en-US" sz="800" dirty="0"/>
                        <a:t> 처리</a:t>
                      </a:r>
                      <a:endParaRPr lang="en-US" altLang="ko-KR" sz="800" dirty="0"/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페이지 번호 클릭 시 게시글 목록 이동 가능하다</a:t>
                      </a:r>
                      <a:r>
                        <a:rPr lang="en-US" altLang="ko-KR" sz="800" dirty="0"/>
                        <a:t>.</a:t>
                      </a:r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이전</a:t>
                      </a:r>
                      <a:r>
                        <a:rPr lang="en-US" altLang="ko-KR" sz="800" dirty="0"/>
                        <a:t>/</a:t>
                      </a:r>
                      <a:r>
                        <a:rPr lang="ko-KR" altLang="en-US" sz="800" dirty="0"/>
                        <a:t>다음 버튼 지원한다</a:t>
                      </a:r>
                      <a:r>
                        <a:rPr lang="en-US" altLang="ko-KR" sz="800" dirty="0"/>
                        <a:t>.</a:t>
                      </a:r>
                    </a:p>
                    <a:p>
                      <a:endParaRPr lang="en-US" altLang="ko-KR" sz="800" dirty="0"/>
                    </a:p>
                    <a:p>
                      <a:r>
                        <a:rPr lang="en-US" altLang="ko-KR" sz="800" dirty="0"/>
                        <a:t>6. </a:t>
                      </a:r>
                      <a:r>
                        <a:rPr lang="ko-KR" altLang="en-US" sz="800" dirty="0"/>
                        <a:t>게시글 정보 출력</a:t>
                      </a:r>
                      <a:endParaRPr lang="en-US" altLang="ko-KR" sz="800" dirty="0"/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 </a:t>
                      </a:r>
                      <a:r>
                        <a:rPr lang="ko-KR" altLang="en-US" sz="800" dirty="0"/>
                        <a:t>제목</a:t>
                      </a:r>
                    </a:p>
                    <a:p>
                      <a:r>
                        <a:rPr lang="en-US" altLang="ko-KR" sz="800" dirty="0"/>
                        <a:t> -  </a:t>
                      </a:r>
                      <a:r>
                        <a:rPr lang="ko-KR" altLang="en-US" sz="800" dirty="0"/>
                        <a:t>작성자</a:t>
                      </a:r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 </a:t>
                      </a:r>
                      <a:r>
                        <a:rPr lang="ko-KR" altLang="en-US" sz="800" dirty="0"/>
                        <a:t>작성일</a:t>
                      </a:r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 </a:t>
                      </a:r>
                      <a:r>
                        <a:rPr lang="ko-KR" altLang="en-US" sz="800" dirty="0"/>
                        <a:t>조회수</a:t>
                      </a:r>
                    </a:p>
                    <a:p>
                      <a:r>
                        <a:rPr lang="en-US" altLang="ko-KR" sz="800" dirty="0"/>
                        <a:t> -  </a:t>
                      </a:r>
                      <a:r>
                        <a:rPr lang="ko-KR" altLang="en-US" sz="800" dirty="0"/>
                        <a:t>좋아요 수</a:t>
                      </a:r>
                      <a:endParaRPr lang="en-US" altLang="ko-KR" sz="800" dirty="0"/>
                    </a:p>
                    <a:p>
                      <a:endParaRPr lang="ko-KR" altLang="en-US" sz="8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7.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글 작성하기</a:t>
                      </a:r>
                      <a:endParaRPr lang="en-US" altLang="ko-KR" sz="800" dirty="0">
                        <a:latin typeface="+mj-ea"/>
                        <a:ea typeface="+mj-ea"/>
                      </a:endParaRP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게시글 작성하기 화면으로 이동한다</a:t>
                      </a: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D9B30C3F-0BB2-45C3-8EF2-84C23CE2F7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5" y="1811828"/>
            <a:ext cx="5741950" cy="339779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6" name="말풍선: 타원형 5">
            <a:extLst>
              <a:ext uri="{FF2B5EF4-FFF2-40B4-BE49-F238E27FC236}">
                <a16:creationId xmlns:a16="http://schemas.microsoft.com/office/drawing/2014/main" id="{488965AB-A330-4404-9D02-8753E3A7CBD9}"/>
              </a:ext>
            </a:extLst>
          </p:cNvPr>
          <p:cNvSpPr/>
          <p:nvPr/>
        </p:nvSpPr>
        <p:spPr>
          <a:xfrm>
            <a:off x="5737613" y="1811828"/>
            <a:ext cx="1793487" cy="518564"/>
          </a:xfrm>
          <a:prstGeom prst="wedgeEllipseCallout">
            <a:avLst>
              <a:gd name="adj1" fmla="val -58098"/>
              <a:gd name="adj2" fmla="val 5678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글 작성하기 페이지로 이동</a:t>
            </a:r>
          </a:p>
        </p:txBody>
      </p:sp>
      <p:sp>
        <p:nvSpPr>
          <p:cNvPr id="8" name="말풍선: 타원형 7">
            <a:extLst>
              <a:ext uri="{FF2B5EF4-FFF2-40B4-BE49-F238E27FC236}">
                <a16:creationId xmlns:a16="http://schemas.microsoft.com/office/drawing/2014/main" id="{0B1DFA96-3D11-4CE0-AC95-7E1BCEF7DA40}"/>
              </a:ext>
            </a:extLst>
          </p:cNvPr>
          <p:cNvSpPr/>
          <p:nvPr/>
        </p:nvSpPr>
        <p:spPr>
          <a:xfrm>
            <a:off x="2590800" y="2497628"/>
            <a:ext cx="1866900" cy="518564"/>
          </a:xfrm>
          <a:prstGeom prst="wedgeEllipseCallout">
            <a:avLst>
              <a:gd name="adj1" fmla="val 74746"/>
              <a:gd name="adj2" fmla="val -5750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사용자가 원하는 대로 정렬</a:t>
            </a:r>
          </a:p>
        </p:txBody>
      </p:sp>
    </p:spTree>
    <p:extLst>
      <p:ext uri="{BB962C8B-B14F-4D97-AF65-F5344CB8AC3E}">
        <p14:creationId xmlns:p14="http://schemas.microsoft.com/office/powerpoint/2010/main" val="3989147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3471255169"/>
              </p:ext>
            </p:extLst>
          </p:nvPr>
        </p:nvGraphicFramePr>
        <p:xfrm>
          <a:off x="424675" y="405277"/>
          <a:ext cx="6242825" cy="9165503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9976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6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17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19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277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2302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51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커뮤니티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51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 err="1">
                          <a:latin typeface="+mj-ea"/>
                          <a:ea typeface="+mj-ea"/>
                        </a:rPr>
                        <a:t>게시글상세관리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51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커뮤니티 게시글 목록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COMMUNITY_VIEW_PAGE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7716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사용자가 커뮤니티 게시글의 상세 내용을 조회하고 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댓글 및 좋아요 기능을 사용할 수 있는 화면이다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68569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4859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en-US" altLang="ko-KR" sz="800" dirty="0">
                          <a:latin typeface="+mj-ea"/>
                          <a:ea typeface="+mj-ea"/>
                        </a:rPr>
                        <a:t>1.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게시글 상세조회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게시글 제목 조회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게시글 내용 조회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작성자 조회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작성일 조회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조회수 조회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카테고리 조회</a:t>
                      </a:r>
                      <a:endParaRPr lang="en-US" altLang="ko-KR" sz="800" dirty="0">
                        <a:latin typeface="+mj-ea"/>
                        <a:ea typeface="+mj-ea"/>
                      </a:endParaRPr>
                    </a:p>
                    <a:p>
                      <a:pPr lvl="1"/>
                      <a:endParaRPr lang="ko-KR" altLang="en-US" sz="8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800" dirty="0">
                          <a:latin typeface="+mj-ea"/>
                          <a:ea typeface="+mj-ea"/>
                        </a:rPr>
                        <a:t>2.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좋아요 기능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좋아요 버튼 클릭 시 좋아요 증가한다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이미 </a:t>
                      </a:r>
                      <a:r>
                        <a:rPr lang="ko-KR" altLang="en-US" sz="800" dirty="0" err="1">
                          <a:latin typeface="+mj-ea"/>
                          <a:ea typeface="+mj-ea"/>
                        </a:rPr>
                        <a:t>좋아요를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누른 경우 취소 가능하다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endParaRPr lang="en-US" altLang="ko-KR" sz="8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800" dirty="0">
                          <a:latin typeface="+mj-ea"/>
                          <a:ea typeface="+mj-ea"/>
                        </a:rPr>
                        <a:t>3.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게시글 수정 기능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작성자 본인만 수정 가능하다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수정 버튼 클릭 시 게시글 수정 화면 이동한다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endParaRPr lang="en-US" altLang="ko-KR" sz="8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800" dirty="0">
                          <a:latin typeface="+mj-ea"/>
                          <a:ea typeface="+mj-ea"/>
                        </a:rPr>
                        <a:t>4.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게시글 삭제 기능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작성자 본인만 삭제 가능하다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삭제 후 게시글 목록 화면으로 이동한다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endParaRPr lang="en-US" altLang="ko-KR" sz="8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800" dirty="0">
                          <a:latin typeface="+mj-ea"/>
                          <a:ea typeface="+mj-ea"/>
                        </a:rPr>
                        <a:t>5.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댓글 등록 기능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댓글 입력 후 등록 가능하다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로그인 사용자만 댓글 작성 가능하다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endParaRPr lang="en-US" altLang="ko-KR" sz="8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800" dirty="0">
                          <a:latin typeface="+mj-ea"/>
                          <a:ea typeface="+mj-ea"/>
                        </a:rPr>
                        <a:t>6.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댓글 목록 조회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게시글 댓글 목록 출력한다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댓글 작성자 및 작성일 조회 가능하다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endParaRPr lang="en-US" altLang="ko-KR" sz="8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800" dirty="0">
                          <a:latin typeface="+mj-ea"/>
                          <a:ea typeface="+mj-ea"/>
                        </a:rPr>
                        <a:t>7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댓글 수정 및 삭제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댓글 작성자 본인만 수정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/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삭제 가능하다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endParaRPr lang="en-US" altLang="ko-KR" sz="8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800" dirty="0">
                          <a:latin typeface="+mj-ea"/>
                          <a:ea typeface="+mj-ea"/>
                        </a:rPr>
                        <a:t>8.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목록 이동 기능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목록으로 버튼 클릭 시 게시글 목록 화면 이동한다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조회수 증가 처리</a:t>
                      </a:r>
                      <a:endParaRPr lang="en-US" altLang="ko-KR" sz="800" dirty="0">
                        <a:latin typeface="+mj-ea"/>
                        <a:ea typeface="+mj-ea"/>
                      </a:endParaRPr>
                    </a:p>
                    <a:p>
                      <a:endParaRPr lang="ko-KR" altLang="en-US" sz="800" dirty="0">
                        <a:latin typeface="+mj-ea"/>
                        <a:ea typeface="+mj-ea"/>
                      </a:endParaRPr>
                    </a:p>
                    <a:p>
                      <a:pPr lvl="1"/>
                      <a:r>
                        <a:rPr lang="en-US" altLang="ko-KR" sz="800" dirty="0">
                          <a:latin typeface="+mj-ea"/>
                          <a:ea typeface="+mj-ea"/>
                        </a:rPr>
                        <a:t>9.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게시글 상세조회 시 조회수 자동 증가한다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사용자 권한 처리</a:t>
                      </a:r>
                    </a:p>
                    <a:p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작성자 여부에 따라 수정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/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삭제 버튼 출력 여부 결정한다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ko-KR" altLang="en-US" sz="800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10" name="그림 9">
            <a:extLst>
              <a:ext uri="{FF2B5EF4-FFF2-40B4-BE49-F238E27FC236}">
                <a16:creationId xmlns:a16="http://schemas.microsoft.com/office/drawing/2014/main" id="{E4FB3974-2AF7-43F2-A012-94E5CB6552B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302"/>
          <a:stretch/>
        </p:blipFill>
        <p:spPr>
          <a:xfrm>
            <a:off x="676505" y="2184169"/>
            <a:ext cx="5789963" cy="236189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말풍선: 타원형 1">
            <a:extLst>
              <a:ext uri="{FF2B5EF4-FFF2-40B4-BE49-F238E27FC236}">
                <a16:creationId xmlns:a16="http://schemas.microsoft.com/office/drawing/2014/main" id="{E3F9D4B1-8C50-430C-BD28-D8F5CEFFDE86}"/>
              </a:ext>
            </a:extLst>
          </p:cNvPr>
          <p:cNvSpPr/>
          <p:nvPr/>
        </p:nvSpPr>
        <p:spPr>
          <a:xfrm>
            <a:off x="1219200" y="3378199"/>
            <a:ext cx="1110166" cy="507617"/>
          </a:xfrm>
          <a:prstGeom prst="wedgeEllipseCallout">
            <a:avLst>
              <a:gd name="adj1" fmla="val 77528"/>
              <a:gd name="adj2" fmla="val 5030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댓글 등록하기</a:t>
            </a:r>
          </a:p>
        </p:txBody>
      </p:sp>
      <p:sp>
        <p:nvSpPr>
          <p:cNvPr id="5" name="말풍선: 타원형 4">
            <a:extLst>
              <a:ext uri="{FF2B5EF4-FFF2-40B4-BE49-F238E27FC236}">
                <a16:creationId xmlns:a16="http://schemas.microsoft.com/office/drawing/2014/main" id="{CAC41F81-C269-4D9E-9779-D432DEECF07E}"/>
              </a:ext>
            </a:extLst>
          </p:cNvPr>
          <p:cNvSpPr/>
          <p:nvPr/>
        </p:nvSpPr>
        <p:spPr>
          <a:xfrm>
            <a:off x="4368800" y="2539999"/>
            <a:ext cx="1397000" cy="507617"/>
          </a:xfrm>
          <a:prstGeom prst="wedgeEllipseCallout">
            <a:avLst>
              <a:gd name="adj1" fmla="val -39157"/>
              <a:gd name="adj2" fmla="val 8783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수정 및 삭제하기</a:t>
            </a:r>
          </a:p>
        </p:txBody>
      </p:sp>
      <p:sp>
        <p:nvSpPr>
          <p:cNvPr id="6" name="말풍선: 타원형 5">
            <a:extLst>
              <a:ext uri="{FF2B5EF4-FFF2-40B4-BE49-F238E27FC236}">
                <a16:creationId xmlns:a16="http://schemas.microsoft.com/office/drawing/2014/main" id="{D49F6BFD-7300-4C97-ABBC-D9CCA99E1510}"/>
              </a:ext>
            </a:extLst>
          </p:cNvPr>
          <p:cNvSpPr/>
          <p:nvPr/>
        </p:nvSpPr>
        <p:spPr>
          <a:xfrm>
            <a:off x="1143001" y="2717950"/>
            <a:ext cx="1346200" cy="393315"/>
          </a:xfrm>
          <a:prstGeom prst="wedgeEllipseCallout">
            <a:avLst>
              <a:gd name="adj1" fmla="val 59128"/>
              <a:gd name="adj2" fmla="val 8460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좋아요 클릭하기</a:t>
            </a:r>
          </a:p>
        </p:txBody>
      </p:sp>
    </p:spTree>
    <p:extLst>
      <p:ext uri="{BB962C8B-B14F-4D97-AF65-F5344CB8AC3E}">
        <p14:creationId xmlns:p14="http://schemas.microsoft.com/office/powerpoint/2010/main" val="1005094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3182798189"/>
              </p:ext>
            </p:extLst>
          </p:nvPr>
        </p:nvGraphicFramePr>
        <p:xfrm>
          <a:off x="170674" y="253999"/>
          <a:ext cx="6516651" cy="9405087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10380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3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60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41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721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5757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039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커뮤니티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368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등록관리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707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작성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dirty="0">
                          <a:latin typeface="+mj-ea"/>
                          <a:ea typeface="+mj-ea"/>
                        </a:rPr>
                        <a:t>COMMUNITY_WIRTE_PAGE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7051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사용자가 커뮤니티 게시글을 작성하는 화면이다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43682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79034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1. </a:t>
                      </a:r>
                      <a:r>
                        <a:rPr lang="ko-KR" altLang="en-US" sz="1000" dirty="0" err="1">
                          <a:latin typeface="+mj-ea"/>
                          <a:ea typeface="+mj-ea"/>
                        </a:rPr>
                        <a:t>카데고리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선택 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건강 정보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식단 이야기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운동 공유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자유 게시판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228600" indent="-228600">
                        <a:buAutoNum type="arabicPeriod" startAt="2"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제목 입력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게시글 제목 작성 가능하다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indent="0">
                        <a:buNone/>
                      </a:pP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3.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내용 입력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상세 내용 작성 가능하다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indent="0">
                        <a:buNone/>
                      </a:pP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4.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등록 기능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등록하기 버튼 클릭 시 게시글이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DB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에 저장된다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등록 완료 후 커뮤니티 목록 화면으로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5.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작성 취소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취소 버튼 클릭 시 이전 화면으로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6.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사용자 작성 처리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사용자 정보가 자동 저장된다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7.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유효성 검사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제목 및 내용 미 입력 시 등록 제한한다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A98EF82B-15ED-4FF6-81CC-A4592FE2B3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274" y="2080647"/>
            <a:ext cx="6059450" cy="325335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말풍선: 타원형 3">
            <a:extLst>
              <a:ext uri="{FF2B5EF4-FFF2-40B4-BE49-F238E27FC236}">
                <a16:creationId xmlns:a16="http://schemas.microsoft.com/office/drawing/2014/main" id="{D415C476-8FEA-4F47-B12D-7E8DC3DC2641}"/>
              </a:ext>
            </a:extLst>
          </p:cNvPr>
          <p:cNvSpPr/>
          <p:nvPr/>
        </p:nvSpPr>
        <p:spPr>
          <a:xfrm>
            <a:off x="4508500" y="3924300"/>
            <a:ext cx="1485900" cy="520700"/>
          </a:xfrm>
          <a:prstGeom prst="wedgeEllipseCallout">
            <a:avLst>
              <a:gd name="adj1" fmla="val -58652"/>
              <a:gd name="adj2" fmla="val 6494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게시글 전체 페이지로 이동</a:t>
            </a:r>
          </a:p>
        </p:txBody>
      </p:sp>
    </p:spTree>
    <p:extLst>
      <p:ext uri="{BB962C8B-B14F-4D97-AF65-F5344CB8AC3E}">
        <p14:creationId xmlns:p14="http://schemas.microsoft.com/office/powerpoint/2010/main" val="14747411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250579012"/>
              </p:ext>
            </p:extLst>
          </p:nvPr>
        </p:nvGraphicFramePr>
        <p:xfrm>
          <a:off x="399275" y="192711"/>
          <a:ext cx="6059450" cy="9519371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8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7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2275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3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마이페이지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68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마이페이지 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4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마이페이지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dirty="0">
                          <a:latin typeface="+mj-ea"/>
                          <a:ea typeface="+mj-ea"/>
                        </a:rPr>
                        <a:t>MY_PAGE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사용자의 개인 정보와 활동 기록을 조회하는 화면이다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7205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1.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회원 정보 조회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 이름 및 이메일 조회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최근 분석 기록 조회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최근 심근경색 분석 결과를 조회한다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상세보기 버튼 클릭 시 분석 상세 화면 이동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3.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회원 정보 수정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 정보를 수정할 수 있다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4.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회원 탈퇴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회원 탈퇴 기능 제공한다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5.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메뉴 이동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내 게시글 조회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내 문의사항 조회</a:t>
                      </a: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분석 기록 조회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ko-KR" altLang="en-US" sz="1000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89484CE6-CE1B-4D3D-AED1-DD8A9B8C80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" y="2031072"/>
            <a:ext cx="5562600" cy="458562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말풍선: 타원형 3">
            <a:extLst>
              <a:ext uri="{FF2B5EF4-FFF2-40B4-BE49-F238E27FC236}">
                <a16:creationId xmlns:a16="http://schemas.microsoft.com/office/drawing/2014/main" id="{31EE98F2-3D80-4FCB-BC03-52DFB64F4A3B}"/>
              </a:ext>
            </a:extLst>
          </p:cNvPr>
          <p:cNvSpPr/>
          <p:nvPr/>
        </p:nvSpPr>
        <p:spPr>
          <a:xfrm>
            <a:off x="5787320" y="2031072"/>
            <a:ext cx="1839660" cy="635928"/>
          </a:xfrm>
          <a:prstGeom prst="wedgeEllipseCallout">
            <a:avLst>
              <a:gd name="adj1" fmla="val -71275"/>
              <a:gd name="adj2" fmla="val 60176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분석페이지로 </a:t>
            </a:r>
            <a:r>
              <a:rPr lang="ko-KR" altLang="en-US" sz="1000" dirty="0">
                <a:solidFill>
                  <a:schemeClr val="tx1"/>
                </a:solidFill>
              </a:rPr>
              <a:t>이동</a:t>
            </a:r>
          </a:p>
        </p:txBody>
      </p:sp>
      <p:sp>
        <p:nvSpPr>
          <p:cNvPr id="6" name="말풍선: 타원형 5">
            <a:extLst>
              <a:ext uri="{FF2B5EF4-FFF2-40B4-BE49-F238E27FC236}">
                <a16:creationId xmlns:a16="http://schemas.microsoft.com/office/drawing/2014/main" id="{CB8A292C-2E82-4833-A983-1B4D6B3F83B1}"/>
              </a:ext>
            </a:extLst>
          </p:cNvPr>
          <p:cNvSpPr/>
          <p:nvPr/>
        </p:nvSpPr>
        <p:spPr>
          <a:xfrm>
            <a:off x="3843978" y="3835400"/>
            <a:ext cx="1718913" cy="635928"/>
          </a:xfrm>
          <a:prstGeom prst="wedgeEllipseCallout">
            <a:avLst>
              <a:gd name="adj1" fmla="val 32366"/>
              <a:gd name="adj2" fmla="val -8960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당일에 한 분석 결과로 이동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4173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1496608976"/>
              </p:ext>
            </p:extLst>
          </p:nvPr>
        </p:nvGraphicFramePr>
        <p:xfrm>
          <a:off x="495300" y="344487"/>
          <a:ext cx="6059450" cy="9423455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8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7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6205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19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커뮤니티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58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내 게시글 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416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내 게시글 조회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MY_COMMUNITY_PAGE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103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사용자가 작성한 게시글을 조회하는 화면이다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99136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740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1.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내 게시글 목록 조회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사용자가 작성한 게시글만 출력한다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2. </a:t>
                      </a:r>
                      <a:r>
                        <a:rPr lang="ko-KR" altLang="en-US" sz="1000" dirty="0" err="1">
                          <a:latin typeface="+mj-ea"/>
                          <a:ea typeface="+mj-ea"/>
                        </a:rPr>
                        <a:t>최신순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정렬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최근 작성 게시글을 우선 출력한다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3.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정보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출력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카테고리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작성일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조회수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좋아요 수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endParaRPr lang="ko-KR" altLang="en-US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4.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상세 이동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클릭 시 상세 페이지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5. </a:t>
                      </a:r>
                      <a:r>
                        <a:rPr lang="ko-KR" altLang="en-US" sz="1000" dirty="0" err="1">
                          <a:latin typeface="+mj-ea"/>
                          <a:ea typeface="+mj-ea"/>
                        </a:rPr>
                        <a:t>페이징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처리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이전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/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다음 버튼 및 페이지 번호 지원한다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ko-KR" altLang="en-US" sz="1000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97A0CEEF-007A-4FAE-BBE3-3D844328B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200" y="2203224"/>
            <a:ext cx="5651500" cy="454047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말풍선: 타원형 3">
            <a:extLst>
              <a:ext uri="{FF2B5EF4-FFF2-40B4-BE49-F238E27FC236}">
                <a16:creationId xmlns:a16="http://schemas.microsoft.com/office/drawing/2014/main" id="{DDC40B5D-4720-498E-B38F-49A899912DEB}"/>
              </a:ext>
            </a:extLst>
          </p:cNvPr>
          <p:cNvSpPr/>
          <p:nvPr/>
        </p:nvSpPr>
        <p:spPr>
          <a:xfrm>
            <a:off x="3429000" y="2914650"/>
            <a:ext cx="1598650" cy="393700"/>
          </a:xfrm>
          <a:prstGeom prst="wedgeEllipseCallout">
            <a:avLst>
              <a:gd name="adj1" fmla="val 62004"/>
              <a:gd name="adj2" fmla="val -3427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작성하기 페이지로 이동</a:t>
            </a:r>
          </a:p>
        </p:txBody>
      </p:sp>
      <p:sp>
        <p:nvSpPr>
          <p:cNvPr id="5" name="말풍선: 타원형 4">
            <a:extLst>
              <a:ext uri="{FF2B5EF4-FFF2-40B4-BE49-F238E27FC236}">
                <a16:creationId xmlns:a16="http://schemas.microsoft.com/office/drawing/2014/main" id="{EF45B6CA-D94C-4C9D-8FDE-EF4682846EC5}"/>
              </a:ext>
            </a:extLst>
          </p:cNvPr>
          <p:cNvSpPr/>
          <p:nvPr/>
        </p:nvSpPr>
        <p:spPr>
          <a:xfrm>
            <a:off x="5416088" y="3175000"/>
            <a:ext cx="1854200" cy="393700"/>
          </a:xfrm>
          <a:prstGeom prst="wedgeEllipseCallout">
            <a:avLst>
              <a:gd name="adj1" fmla="val -38887"/>
              <a:gd name="adj2" fmla="val 9798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게시글 상세페이지로 이동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2464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2430594215"/>
              </p:ext>
            </p:extLst>
          </p:nvPr>
        </p:nvGraphicFramePr>
        <p:xfrm>
          <a:off x="399275" y="268911"/>
          <a:ext cx="6059450" cy="9366971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8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7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2275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3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고객지원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68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문의조회관리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4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내 문의사항 조회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MY_INQUIRY_PAGE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사용자가 등록한 문의사항 목록을 조회하는 화면이다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7205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1.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내 문의사항 목록 조회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사용자의 문의사항만 출력한다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2. </a:t>
                      </a:r>
                      <a:r>
                        <a:rPr lang="ko-KR" altLang="en-US" sz="1000" dirty="0" err="1">
                          <a:latin typeface="+mj-ea"/>
                          <a:ea typeface="+mj-ea"/>
                        </a:rPr>
                        <a:t>최신순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정렬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최근 등록 문의사항이 상단에 표시된다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3.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문의사항 정보 출력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제목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문의내용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작성일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문의사항 작성 이동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문의사항 작성하기 버튼 클릭 시 고객센터 페이지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4. </a:t>
                      </a:r>
                      <a:r>
                        <a:rPr lang="ko-KR" altLang="en-US" sz="1000" dirty="0" err="1">
                          <a:latin typeface="+mj-ea"/>
                          <a:ea typeface="+mj-ea"/>
                        </a:rPr>
                        <a:t>페이징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처리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페이지 번호 이동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이전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/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다음 버튼 지원한다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ko-KR" altLang="en-US" sz="1000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7C96154F-BAFD-447D-9177-32297FAAF88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4938" b="3545"/>
          <a:stretch/>
        </p:blipFill>
        <p:spPr>
          <a:xfrm>
            <a:off x="561587" y="2145277"/>
            <a:ext cx="5760225" cy="456032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7" name="말풍선: 타원형 6">
            <a:extLst>
              <a:ext uri="{FF2B5EF4-FFF2-40B4-BE49-F238E27FC236}">
                <a16:creationId xmlns:a16="http://schemas.microsoft.com/office/drawing/2014/main" id="{BB916133-AEA0-442F-B859-49E3D8575942}"/>
              </a:ext>
            </a:extLst>
          </p:cNvPr>
          <p:cNvSpPr/>
          <p:nvPr/>
        </p:nvSpPr>
        <p:spPr>
          <a:xfrm>
            <a:off x="3530601" y="2781300"/>
            <a:ext cx="1587500" cy="495300"/>
          </a:xfrm>
          <a:prstGeom prst="wedgeEllipseCallout">
            <a:avLst>
              <a:gd name="adj1" fmla="val 66037"/>
              <a:gd name="adj2" fmla="val -606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작성하기 페이지로 이동</a:t>
            </a:r>
          </a:p>
        </p:txBody>
      </p:sp>
    </p:spTree>
    <p:extLst>
      <p:ext uri="{BB962C8B-B14F-4D97-AF65-F5344CB8AC3E}">
        <p14:creationId xmlns:p14="http://schemas.microsoft.com/office/powerpoint/2010/main" val="40150482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1290662652"/>
              </p:ext>
            </p:extLst>
          </p:nvPr>
        </p:nvGraphicFramePr>
        <p:xfrm>
          <a:off x="520700" y="166837"/>
          <a:ext cx="6059450" cy="9571119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8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7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5905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2991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37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회원정보관리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948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회원 정보 수정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MEMBER_UPDATE_PAGE</a:t>
                      </a: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082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사용자가 자신의 회원 정보를 수정하는 화면이다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95537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8994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1.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회원 정보 조회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사용자 정보를 자동 조회한다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이메일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(ID)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은 수정 불가능하다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이름 수정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 이름 수정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3.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전화번호 수정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전화번호 수정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.(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숫자만 입력 가능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)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4.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닉네임 수정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닉네임 수정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5.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회원 정보 저장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수정 완료 버튼 클릭 시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DB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에 저장된다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수정 후 사용자 정보 갱신된다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6.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유효성 검사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이름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전화번호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닉네임 미 입력 시 수정 제한한다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ko-KR" altLang="en-US" sz="1000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9108A184-711A-487D-842B-1BF38ECC3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425" y="2159490"/>
            <a:ext cx="5842000" cy="421591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말풍선: 타원형 3">
            <a:extLst>
              <a:ext uri="{FF2B5EF4-FFF2-40B4-BE49-F238E27FC236}">
                <a16:creationId xmlns:a16="http://schemas.microsoft.com/office/drawing/2014/main" id="{C05FCEB9-7E39-4EB8-8712-5DE41EA0A85E}"/>
              </a:ext>
            </a:extLst>
          </p:cNvPr>
          <p:cNvSpPr/>
          <p:nvPr/>
        </p:nvSpPr>
        <p:spPr>
          <a:xfrm>
            <a:off x="3796063" y="4165845"/>
            <a:ext cx="1892300" cy="736600"/>
          </a:xfrm>
          <a:prstGeom prst="wedgeEllipseCallout">
            <a:avLst>
              <a:gd name="adj1" fmla="val -53483"/>
              <a:gd name="adj2" fmla="val 5732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수정 완료하고 내 정보 페이지로 이동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60760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1624754363"/>
              </p:ext>
            </p:extLst>
          </p:nvPr>
        </p:nvGraphicFramePr>
        <p:xfrm>
          <a:off x="247649" y="344487"/>
          <a:ext cx="6362701" cy="9123131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10135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6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74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113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2275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3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고객지원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68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4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고객센터 문의 등록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CUSTOMER_CENTER_PAGE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사용자가 문의사항을 등록하는 화면이다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7205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228600" marR="0" lvl="0" indent="-22860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AutoNum type="arabicPeriod"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 제목 입력 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 제목 작성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이메일 자동 입력 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사용자 이메일 자동 표시한다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3.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 내용 입력 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문의사항 상세 내용 작성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4.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 등록 기능 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 접수 버튼 클릭 시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DB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저장된다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5 .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유효성 검사 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제목 및 문의 내용 미 입력 시 등록 제한한다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 </a:t>
                      </a:r>
                      <a:endParaRPr lang="ko-KR" altLang="en-US" sz="1000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7BEDBFBF-9004-48B2-A792-E489AA029E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" y="2184400"/>
            <a:ext cx="5956300" cy="44958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5" name="말풍선: 타원형 4">
            <a:extLst>
              <a:ext uri="{FF2B5EF4-FFF2-40B4-BE49-F238E27FC236}">
                <a16:creationId xmlns:a16="http://schemas.microsoft.com/office/drawing/2014/main" id="{5F39AF38-107D-40E9-AC4B-7F3F9D4736CD}"/>
              </a:ext>
            </a:extLst>
          </p:cNvPr>
          <p:cNvSpPr/>
          <p:nvPr/>
        </p:nvSpPr>
        <p:spPr>
          <a:xfrm>
            <a:off x="4470400" y="4953000"/>
            <a:ext cx="1892300" cy="736600"/>
          </a:xfrm>
          <a:prstGeom prst="wedgeEllipseCallout">
            <a:avLst>
              <a:gd name="adj1" fmla="val -53483"/>
              <a:gd name="adj2" fmla="val 5732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문의 접수하고 홈페이지로 이동</a:t>
            </a:r>
          </a:p>
        </p:txBody>
      </p:sp>
    </p:spTree>
    <p:extLst>
      <p:ext uri="{BB962C8B-B14F-4D97-AF65-F5344CB8AC3E}">
        <p14:creationId xmlns:p14="http://schemas.microsoft.com/office/powerpoint/2010/main" val="18231975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3259214082"/>
              </p:ext>
            </p:extLst>
          </p:nvPr>
        </p:nvGraphicFramePr>
        <p:xfrm>
          <a:off x="495300" y="192711"/>
          <a:ext cx="6059450" cy="9519371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0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049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2275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3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건강분석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68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분석기록관리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4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분석 기록 조회</a:t>
                      </a: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ANALYSIS_HISTORY_PAGE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사용자의 심근경색 분석 기록을 조회하는 화면이다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7205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1.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분석 기록 목록 조회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사용자의 분석 날짜 목록 조회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예측 결과 조회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심근경색 발생 확률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(%)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출력한다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3.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상세보기 기능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상세보기 버튼 클릭 시 분석 상세 화면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4.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최신 기록 조회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최근 분석 기록이 상단에 표시된다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5.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예측하기 이동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예측하기 버튼 클릭 시 분석 페이지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6.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사용자별 데이터 조회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사용자의 분석 데이터만 조회한다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ko-KR" altLang="en-US" sz="1000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59CC0DFB-73D1-4E42-A212-0B5310F889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" y="2169462"/>
            <a:ext cx="5740400" cy="420593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5" name="말풍선: 타원형 4">
            <a:extLst>
              <a:ext uri="{FF2B5EF4-FFF2-40B4-BE49-F238E27FC236}">
                <a16:creationId xmlns:a16="http://schemas.microsoft.com/office/drawing/2014/main" id="{5F30A015-A77F-4A32-98C0-F3B878E26851}"/>
              </a:ext>
            </a:extLst>
          </p:cNvPr>
          <p:cNvSpPr/>
          <p:nvPr/>
        </p:nvSpPr>
        <p:spPr>
          <a:xfrm>
            <a:off x="3525025" y="2501900"/>
            <a:ext cx="1524000" cy="546100"/>
          </a:xfrm>
          <a:prstGeom prst="wedgeEllipseCallout">
            <a:avLst>
              <a:gd name="adj1" fmla="val 67350"/>
              <a:gd name="adj2" fmla="val 270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예측 하는 페이지로 이동</a:t>
            </a:r>
          </a:p>
        </p:txBody>
      </p:sp>
      <p:sp>
        <p:nvSpPr>
          <p:cNvPr id="2" name="말풍선: 타원형 1">
            <a:extLst>
              <a:ext uri="{FF2B5EF4-FFF2-40B4-BE49-F238E27FC236}">
                <a16:creationId xmlns:a16="http://schemas.microsoft.com/office/drawing/2014/main" id="{4623047A-A8D0-4586-8516-FC4C7CADFA32}"/>
              </a:ext>
            </a:extLst>
          </p:cNvPr>
          <p:cNvSpPr/>
          <p:nvPr/>
        </p:nvSpPr>
        <p:spPr>
          <a:xfrm>
            <a:off x="5740400" y="2679700"/>
            <a:ext cx="1651000" cy="641350"/>
          </a:xfrm>
          <a:prstGeom prst="wedgeEllipseCallout">
            <a:avLst>
              <a:gd name="adj1" fmla="val -59008"/>
              <a:gd name="adj2" fmla="val 4622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당일에 한 </a:t>
            </a:r>
            <a:r>
              <a:rPr lang="ko-KR" altLang="en-US" sz="1000">
                <a:solidFill>
                  <a:schemeClr val="tx1"/>
                </a:solidFill>
              </a:rPr>
              <a:t>분석 결과 보기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3001538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</TotalTime>
  <Words>1939</Words>
  <Application>Microsoft Office PowerPoint</Application>
  <PresentationFormat>A4 용지(210x297mm)</PresentationFormat>
  <Paragraphs>521</Paragraphs>
  <Slides>13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8" baseType="lpstr">
      <vt:lpstr>Gulimche</vt:lpstr>
      <vt:lpstr>Gulim</vt:lpstr>
      <vt:lpstr>맑은 고딕</vt:lpstr>
      <vt:lpstr>Arial</vt:lpstr>
      <vt:lpstr>기본 디자인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PKH</dc:creator>
  <cp:lastModifiedBy>Administrator</cp:lastModifiedBy>
  <cp:revision>32</cp:revision>
  <dcterms:created xsi:type="dcterms:W3CDTF">2006-05-26T09:19:06Z</dcterms:created>
  <dcterms:modified xsi:type="dcterms:W3CDTF">2026-05-22T05:20:22Z</dcterms:modified>
</cp:coreProperties>
</file>